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9144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REPORTING - 2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0EA5E9"/>
                </a:solidFill>
              </a:defRPr>
            </a:pPr>
            <a:r>
              <a:t>System Design &amp; Database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2004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BUS BUDDY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93192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A0A0A0"/>
                </a:solidFill>
              </a:defRPr>
            </a:pPr>
            <a:r>
              <a:t>School Bus Tracking &amp; Fleet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0292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08080"/>
                </a:solidFill>
              </a:defRPr>
            </a:pPr>
            <a:r>
              <a:t>JG University  |  School of Computing  |  SEM-IV MCA (Batch-2024)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6692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EA5E9"/>
                </a:solidFill>
              </a:defRPr>
            </a:pPr>
            <a:r>
              <a:t>Technology: Next.js 14  |  TypeScript  |  Supabase  |  Python  |  Leaflet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Table of 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>
                <a:solidFill>
                  <a:srgbClr val="1E3A5F"/>
                </a:solidFill>
              </a:defRPr>
            </a:pPr>
            <a:r>
              <a:t>1.   System Design &amp; Architecture</a:t>
            </a:r>
          </a:p>
          <a:p>
            <a:pPr>
              <a:spcAft>
                <a:spcPts val="600"/>
              </a:spcAft>
              <a:defRPr sz="2400">
                <a:solidFill>
                  <a:srgbClr val="1E3A5F"/>
                </a:solidFill>
              </a:defRPr>
            </a:pPr>
            <a:r>
              <a:t>2.   Module Design</a:t>
            </a:r>
          </a:p>
          <a:p>
            <a:pPr>
              <a:spcAft>
                <a:spcPts val="600"/>
              </a:spcAft>
              <a:defRPr sz="2400">
                <a:solidFill>
                  <a:srgbClr val="1E3A5F"/>
                </a:solidFill>
              </a:defRPr>
            </a:pPr>
            <a:r>
              <a:t>3.   Technology Stack</a:t>
            </a:r>
          </a:p>
          <a:p>
            <a:pPr>
              <a:spcAft>
                <a:spcPts val="600"/>
              </a:spcAft>
              <a:defRPr sz="2400">
                <a:solidFill>
                  <a:srgbClr val="1E3A5F"/>
                </a:solidFill>
              </a:defRPr>
            </a:pPr>
            <a:r>
              <a:t>4.   Data Flow Design</a:t>
            </a:r>
          </a:p>
          <a:p>
            <a:pPr>
              <a:spcAft>
                <a:spcPts val="600"/>
              </a:spcAft>
              <a:defRPr sz="2400">
                <a:solidFill>
                  <a:srgbClr val="1E3A5F"/>
                </a:solidFill>
              </a:defRPr>
            </a:pPr>
            <a:r>
              <a:t>5.   Use Case Diagrams (Per Actor)</a:t>
            </a:r>
          </a:p>
          <a:p>
            <a:pPr>
              <a:spcAft>
                <a:spcPts val="600"/>
              </a:spcAft>
              <a:defRPr sz="2400">
                <a:solidFill>
                  <a:srgbClr val="1E3A5F"/>
                </a:solidFill>
              </a:defRPr>
            </a:pPr>
            <a:r>
              <a:t>6.   Class Diagram</a:t>
            </a:r>
          </a:p>
          <a:p>
            <a:pPr>
              <a:spcAft>
                <a:spcPts val="600"/>
              </a:spcAft>
              <a:defRPr sz="2400">
                <a:solidFill>
                  <a:srgbClr val="1E3A5F"/>
                </a:solidFill>
              </a:defRPr>
            </a:pPr>
            <a:r>
              <a:t>7.   Activity Diagram</a:t>
            </a:r>
          </a:p>
          <a:p>
            <a:pPr>
              <a:spcAft>
                <a:spcPts val="600"/>
              </a:spcAft>
              <a:defRPr sz="2400">
                <a:solidFill>
                  <a:srgbClr val="1E3A5F"/>
                </a:solidFill>
              </a:defRPr>
            </a:pPr>
            <a:r>
              <a:t>8.   Data Dictionary</a:t>
            </a:r>
          </a:p>
          <a:p>
            <a:pPr>
              <a:spcAft>
                <a:spcPts val="600"/>
              </a:spcAft>
              <a:defRPr sz="2400">
                <a:solidFill>
                  <a:srgbClr val="1E3A5F"/>
                </a:solidFill>
              </a:defRPr>
            </a:pPr>
            <a:r>
              <a:t>9.   Database Schema (Finalized)</a:t>
            </a:r>
          </a:p>
          <a:p>
            <a:pPr>
              <a:spcAft>
                <a:spcPts val="600"/>
              </a:spcAft>
              <a:defRPr sz="2400">
                <a:solidFill>
                  <a:srgbClr val="1E3A5F"/>
                </a:solidFill>
              </a:defRPr>
            </a:pPr>
            <a:r>
              <a:t>10.  ER Diagram &amp; Relationships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1. System Architecture (3-Tier)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1247120" cy="1097280"/>
          </a:xfrm>
          <a:prstGeom prst="roundRect">
            <a:avLst/>
          </a:prstGeom>
          <a:solidFill>
            <a:srgbClr val="DBEAFE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3A5F"/>
                </a:solidFill>
              </a:defRPr>
            </a:pPr>
            <a:r>
              <a:t>PRESENTATION LAYER (Client)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</a:defRPr>
            </a:pPr>
            <a:r>
              <a:t>Next.js 14 Web App   |   React 18 + TypeScript   |   Tailwind CSS   |   Leaflet Maps   |   Heroicons   |   Mobile App (Planned)</a:t>
            </a:r>
          </a:p>
        </p:txBody>
      </p:sp>
      <p:sp>
        <p:nvSpPr>
          <p:cNvPr id="6" name="Down Arrow 5"/>
          <p:cNvSpPr/>
          <p:nvPr/>
        </p:nvSpPr>
        <p:spPr>
          <a:xfrm>
            <a:off x="5669280" y="2514600"/>
            <a:ext cx="731520" cy="320040"/>
          </a:xfrm>
          <a:prstGeom prst="downArrow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2926080"/>
            <a:ext cx="11247120" cy="137160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971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66A4C"/>
                </a:solidFill>
              </a:defRPr>
            </a:pPr>
            <a:r>
              <a:t>APPLICATION LAYER (Business Logic)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37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</a:defRPr>
            </a:pPr>
            <a:r>
              <a:t>Supabase Backend  (REST API  +  Realtime WebSocket  +  Authentication)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4903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</a:defRPr>
            </a:pPr>
            <a:r>
              <a:t>Python Scripts:  alarm.py (Alarm Polling &amp; Processing)   |   guid_tracker.py (Deduplication)   |   debug_raw_status.py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669280" y="4343400"/>
            <a:ext cx="731520" cy="320040"/>
          </a:xfrm>
          <a:prstGeom prst="downArrow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4754880"/>
            <a:ext cx="11247120" cy="9144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800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92400E"/>
                </a:solidFill>
              </a:defRPr>
            </a:pPr>
            <a:r>
              <a:t>DATA LAYER (Storage)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1663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</a:defRPr>
            </a:pPr>
            <a:r>
              <a:t>PostgreSQL (Supabase)   |   OpenStreetMap Tile Server   |   External GPS Tracking Server (IP: 34.56.58.93)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669280" y="5715000"/>
            <a:ext cx="731520" cy="320040"/>
          </a:xfrm>
          <a:prstGeom prst="downArrow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" y="6080760"/>
            <a:ext cx="11247120" cy="640080"/>
          </a:xfrm>
          <a:prstGeom prst="roundRect">
            <a:avLst/>
          </a:prstGeom>
          <a:solidFill>
            <a:srgbClr val="FEE2E2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61081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4444"/>
                </a:solidFill>
              </a:defRPr>
            </a:pPr>
            <a:r>
              <a:t>HARDWARE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610819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0000"/>
                </a:solidFill>
              </a:defRPr>
            </a:pPr>
            <a:r>
              <a:t>GPS Tracker (In Bus)   |   MDVR Camera (Video)   |   DMS/ADAS Sensors (Safety Monitoring)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2. Module Design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3566160" cy="169164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5331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3A5F"/>
                </a:solidFill>
              </a:defRPr>
            </a:pPr>
            <a:r>
              <a:t>Authentication Module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6464"/>
                </a:solidFill>
              </a:defRPr>
            </a:pPr>
            <a:r>
              <a:t>- Login / Register</a:t>
            </a:r>
            <a:br/>
            <a:r>
              <a:t>- Session Management</a:t>
            </a:r>
            <a:br/>
            <a:r>
              <a:t>- Logout</a:t>
            </a:r>
            <a:br/>
            <a:r>
              <a:t>- Role-based Access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280160"/>
            <a:ext cx="3566160" cy="169164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34840" y="135331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3A5F"/>
                </a:solidFill>
              </a:defRPr>
            </a:pPr>
            <a:r>
              <a:t>Dashboard Module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173736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6464"/>
                </a:solidFill>
              </a:defRPr>
            </a:pPr>
            <a:r>
              <a:t>- Fleet Overview &amp; Stats</a:t>
            </a:r>
            <a:br/>
            <a:r>
              <a:t>- Route Count (Active/Inactive)</a:t>
            </a:r>
            <a:br/>
            <a:r>
              <a:t>- Overspeed Monitoring</a:t>
            </a:r>
            <a:br/>
            <a:r>
              <a:t>- Analytics Charts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280160"/>
            <a:ext cx="3566160" cy="16916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35331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3A5F"/>
                </a:solidFill>
              </a:defRPr>
            </a:pPr>
            <a:r>
              <a:t>GPS Tracking Module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173736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6464"/>
                </a:solidFill>
              </a:defRPr>
            </a:pPr>
            <a:r>
              <a:t>- Live Interactive Map</a:t>
            </a:r>
            <a:br/>
            <a:r>
              <a:t>- Color-coded Bus Markers</a:t>
            </a:r>
            <a:br/>
            <a:r>
              <a:t>- Speed Display</a:t>
            </a:r>
            <a:br/>
            <a:r>
              <a:t>- Realtime Updates (10s)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154679"/>
            <a:ext cx="3566160" cy="1691640"/>
          </a:xfrm>
          <a:prstGeom prst="roundRect">
            <a:avLst/>
          </a:prstGeom>
          <a:solidFill>
            <a:srgbClr val="E0E7FF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22783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3A5F"/>
                </a:solidFill>
              </a:defRPr>
            </a:pPr>
            <a:r>
              <a:t>Route Management Module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611879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6464"/>
                </a:solidFill>
              </a:defRPr>
            </a:pPr>
            <a:r>
              <a:t>- Add / Edit / Delete Routes</a:t>
            </a:r>
            <a:br/>
            <a:r>
              <a:t>- Status Management</a:t>
            </a:r>
            <a:br/>
            <a:r>
              <a:t>- GPS Coordinate Linking</a:t>
            </a:r>
            <a:br/>
            <a:r>
              <a:t>- Device ID Assignment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3154679"/>
            <a:ext cx="3566160" cy="1691640"/>
          </a:xfrm>
          <a:prstGeom prst="roundRect">
            <a:avLst/>
          </a:prstGeom>
          <a:solidFill>
            <a:srgbClr val="FEE2E2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322783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3A5F"/>
                </a:solidFill>
              </a:defRPr>
            </a:pPr>
            <a:r>
              <a:t>Alarm System Module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3611879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6464"/>
                </a:solidFill>
              </a:defRPr>
            </a:pPr>
            <a:r>
              <a:t>- View Safety Alarms</a:t>
            </a:r>
            <a:br/>
            <a:r>
              <a:t>- Filter by Type / Date</a:t>
            </a:r>
            <a:br/>
            <a:r>
              <a:t>- Driver-specific Filtering</a:t>
            </a:r>
            <a:br/>
            <a:r>
              <a:t>- Export PDF Report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3154679"/>
            <a:ext cx="3566160" cy="1691640"/>
          </a:xfrm>
          <a:prstGeom prst="roundRect">
            <a:avLst/>
          </a:prstGeom>
          <a:solidFill>
            <a:srgbClr val="FCE7F3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322783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3A5F"/>
                </a:solidFill>
              </a:defRPr>
            </a:pPr>
            <a:r>
              <a:t>Driver Management Module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3611879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6464"/>
                </a:solidFill>
              </a:defRPr>
            </a:pPr>
            <a:r>
              <a:t>- Driver List &amp; Profiles</a:t>
            </a:r>
            <a:br/>
            <a:r>
              <a:t>- Add / Edit Drivers</a:t>
            </a:r>
            <a:br/>
            <a:r>
              <a:t>- Assign to Bus Route</a:t>
            </a:r>
            <a:br/>
            <a:r>
              <a:t>- License Expiry Tracking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029200"/>
            <a:ext cx="3566160" cy="1691640"/>
          </a:xfrm>
          <a:prstGeom prst="roundRect">
            <a:avLst/>
          </a:prstGeom>
          <a:solidFill>
            <a:srgbClr val="EDFAFB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10235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3A5F"/>
                </a:solidFill>
              </a:defRPr>
            </a:pPr>
            <a:r>
              <a:t>Reports Module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48640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6464"/>
                </a:solidFill>
              </a:defRPr>
            </a:pPr>
            <a:r>
              <a:t>- Safety Analytics</a:t>
            </a:r>
            <a:br/>
            <a:r>
              <a:t>- Route Performance</a:t>
            </a:r>
            <a:br/>
            <a:r>
              <a:t>- Driver Reports</a:t>
            </a:r>
            <a:br/>
            <a:r>
              <a:t>- Export Data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5029200"/>
            <a:ext cx="3566160" cy="1691640"/>
          </a:xfrm>
          <a:prstGeom prst="roundRect">
            <a:avLst/>
          </a:prstGeom>
          <a:solidFill>
            <a:srgbClr val="F3E8FF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40" y="510235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3A5F"/>
                </a:solidFill>
              </a:defRPr>
            </a:pPr>
            <a:r>
              <a:t>Video Stream Module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548640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6464"/>
                </a:solidFill>
              </a:defRPr>
            </a:pPr>
            <a:r>
              <a:t>- Live Camera Feed</a:t>
            </a:r>
            <a:br/>
            <a:r>
              <a:t>- MDVR Integration</a:t>
            </a:r>
            <a:br/>
            <a:r>
              <a:t>- Video Playback</a:t>
            </a:r>
            <a:br/>
            <a:r>
              <a:t>- Camera Management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5029200"/>
            <a:ext cx="3566160" cy="169164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20" y="510235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3A5F"/>
                </a:solidFill>
              </a:defRPr>
            </a:pPr>
            <a:r>
              <a:t>Alerts &amp; Profile Module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548640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6464"/>
                </a:solidFill>
              </a:defRPr>
            </a:pPr>
            <a:r>
              <a:t>- Notification Center</a:t>
            </a:r>
            <a:br/>
            <a:r>
              <a:t>- Alert History</a:t>
            </a:r>
            <a:br/>
            <a:r>
              <a:t>- User Settings</a:t>
            </a:r>
            <a:br/>
            <a:r>
              <a:t>- Profile Management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3. Technology Stack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188720"/>
          <a:ext cx="1161288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  <a:gridCol w="2903220"/>
                <a:gridCol w="2903220"/>
              </a:tblGrid>
              <a:tr h="33147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Version</a:t>
                      </a:r>
                    </a:p>
                  </a:txBody>
                  <a:tcPr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1E406E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Frontend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Next.js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14.0.0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React-based SSR Framework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Frontend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React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18.2.0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Component-based UI Library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Frontend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TypeScript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5.0.0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Type-safe JavaScript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Frontend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Tailwind CSS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3.3.5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Utility-first CSS Styling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Frontend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Leaflet + React-Leaflet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1.9.4 / 4.2.1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Interactive Map Rendering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Frontend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Heroicons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2.1.0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UI Icon Library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Backend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Supabase (PostgreSQL)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Latest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Database + API + Auth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Backend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Supabase Realtime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Latest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WebSocket Live Updates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Processing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Python 3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3.x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Alarm Polling &amp; Processing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Processing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Requests Library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Latest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HTTP API Communication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Maps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OpenStreetMap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Free Map Tile Provider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Database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PostgreSQL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Latest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Relational Database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Hardware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GPS Tracker Device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Location &amp; Speed Data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Hardware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DMS/ADAS Sensors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Driver Safety Monitoring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Hardware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MDVR Camera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Video Recording &amp; Stream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4. Data Flow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3A5F"/>
                </a:solidFill>
              </a:defRPr>
            </a:pPr>
            <a:r>
              <a:t>4.1  GPS Data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737360"/>
            <a:ext cx="2103120" cy="822960"/>
          </a:xfrm>
          <a:prstGeom prst="roundRect">
            <a:avLst/>
          </a:prstGeom>
          <a:solidFill>
            <a:srgbClr val="FEE2E2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/>
            </a:pPr>
            <a:r>
              <a:t>GPS Device</a:t>
            </a:r>
            <a:br/>
            <a:r>
              <a:t>(In Bus)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468879" y="1965960"/>
            <a:ext cx="274320" cy="274320"/>
          </a:xfrm>
          <a:prstGeom prst="rightArrow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0" y="1737360"/>
            <a:ext cx="2103120" cy="8229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/>
            </a:pPr>
            <a:r>
              <a:t>External</a:t>
            </a:r>
            <a:br/>
            <a:r>
              <a:t>Tracking Server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846320" y="1965960"/>
            <a:ext cx="274320" cy="274320"/>
          </a:xfrm>
          <a:prstGeom prst="rightArrow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120640" y="1737360"/>
            <a:ext cx="2103120" cy="82296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/>
            </a:pPr>
            <a:r>
              <a:t>Python Script</a:t>
            </a:r>
            <a:br/>
            <a:r>
              <a:t>(Processing)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223760" y="1965960"/>
            <a:ext cx="274320" cy="274320"/>
          </a:xfrm>
          <a:prstGeom prst="rightArrow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98080" y="1737360"/>
            <a:ext cx="2103120" cy="82296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/>
            </a:pPr>
            <a:r>
              <a:t>Supabase DB</a:t>
            </a:r>
            <a:br/>
            <a:r>
              <a:t>(gps_data table)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601200" y="1965960"/>
            <a:ext cx="274320" cy="274320"/>
          </a:xfrm>
          <a:prstGeom prst="rightArrow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875520" y="1737360"/>
            <a:ext cx="2103120" cy="822960"/>
          </a:xfrm>
          <a:prstGeom prst="roundRect">
            <a:avLst/>
          </a:prstGeom>
          <a:solidFill>
            <a:srgbClr val="E0E7FF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/>
            </a:pPr>
            <a:r>
              <a:t>Web App</a:t>
            </a:r>
            <a:br/>
            <a:r>
              <a:t>(Leaflet Map)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6517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6464"/>
                </a:solidFill>
              </a:defRPr>
            </a:pPr>
            <a:r>
              <a:t>GPS data polled every 10 seconds  |  Realtime updates via Supabase WebSocket  |  Coordinates validated for India region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200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3A5F"/>
                </a:solidFill>
              </a:defRPr>
            </a:pPr>
            <a:r>
              <a:t>4.2  Alarm Data Flow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749039"/>
            <a:ext cx="2103120" cy="822960"/>
          </a:xfrm>
          <a:prstGeom prst="roundRect">
            <a:avLst/>
          </a:prstGeom>
          <a:solidFill>
            <a:srgbClr val="FEE2E2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/>
            </a:pPr>
            <a:r>
              <a:t>DMS / ADAS</a:t>
            </a:r>
            <a:br/>
            <a:r>
              <a:t>Sensor (In Bus)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468879" y="3977639"/>
            <a:ext cx="274320" cy="274320"/>
          </a:xfrm>
          <a:prstGeom prst="rightArrow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743200" y="3749039"/>
            <a:ext cx="2103120" cy="8229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/>
            </a:pPr>
            <a:r>
              <a:t>External</a:t>
            </a:r>
            <a:br/>
            <a:r>
              <a:t>Tracking Server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846320" y="3977639"/>
            <a:ext cx="274320" cy="274320"/>
          </a:xfrm>
          <a:prstGeom prst="rightArrow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120640" y="3749039"/>
            <a:ext cx="2103120" cy="82296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/>
            </a:pPr>
            <a:r>
              <a:t>alarm.py</a:t>
            </a:r>
            <a:br/>
            <a:r>
              <a:t>(Pair &amp; Group)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223760" y="3977639"/>
            <a:ext cx="274320" cy="274320"/>
          </a:xfrm>
          <a:prstGeom prst="rightArrow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498080" y="3749039"/>
            <a:ext cx="2103120" cy="82296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/>
            </a:pPr>
            <a:r>
              <a:t>Supabase DB</a:t>
            </a:r>
            <a:br/>
            <a:r>
              <a:t>(alarms table)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601200" y="3977639"/>
            <a:ext cx="274320" cy="274320"/>
          </a:xfrm>
          <a:prstGeom prst="rightArrow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875520" y="3749039"/>
            <a:ext cx="2103120" cy="822960"/>
          </a:xfrm>
          <a:prstGeom prst="roundRect">
            <a:avLst/>
          </a:prstGeom>
          <a:solidFill>
            <a:srgbClr val="E0E7FF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/>
            </a:pPr>
            <a:r>
              <a:t>Web App</a:t>
            </a:r>
            <a:br/>
            <a:r>
              <a:t>(/alarms page)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6634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6464"/>
                </a:solidFill>
              </a:defRPr>
            </a:pPr>
            <a:r>
              <a:t>Alarm codes paired (e.g. 620+670 = PHONE_USAGE)  |  Categorized by type &amp; severity  |  Uploaded to Supabase DB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212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</a:defRPr>
            </a:pPr>
            <a:r>
              <a:t>4.3  Route Management Flow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57784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0000"/>
                </a:solidFill>
              </a:defRPr>
            </a:pPr>
            <a:r>
              <a:t>Admin  --&gt;  Web App (/routes)  --&gt;  Supabase API</a:t>
            </a:r>
            <a:br/>
            <a:r>
              <a:t>--&gt;  bus_routes Table  --&gt;  Route List Updated</a:t>
            </a:r>
            <a:br/>
            <a:r>
              <a:t>GPS data linked via device_id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212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</a:defRPr>
            </a:pPr>
            <a:r>
              <a:t>4.4  Authentication 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57784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0000"/>
                </a:solidFill>
              </a:defRPr>
            </a:pPr>
            <a:r>
              <a:t>User  --&gt;  Login Page  --&gt;  Validate Credentials</a:t>
            </a:r>
            <a:br/>
            <a:r>
              <a:t>--&gt;  Store Token (LocalStorage)</a:t>
            </a:r>
            <a:br/>
            <a:r>
              <a:t>--&gt;  Redirect to /dashboard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5. Use Case Diagram - School Administrator</a:t>
            </a:r>
          </a:p>
        </p:txBody>
      </p:sp>
      <p:sp>
        <p:nvSpPr>
          <p:cNvPr id="3" name="Oval 2"/>
          <p:cNvSpPr/>
          <p:nvPr/>
        </p:nvSpPr>
        <p:spPr>
          <a:xfrm>
            <a:off x="731520" y="2743200"/>
            <a:ext cx="1645920" cy="1645920"/>
          </a:xfrm>
          <a:prstGeom prst="ellipse">
            <a:avLst/>
          </a:prstGeom>
          <a:solidFill>
            <a:srgbClr val="DBEAFE"/>
          </a:solidFill>
          <a:ln w="254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3A5F"/>
                </a:solidFill>
              </a:defRPr>
            </a:pPr>
            <a:r>
              <a:t>School</a:t>
            </a:r>
            <a:br/>
            <a:r>
              <a:t>Administrator</a:t>
            </a:r>
          </a:p>
        </p:txBody>
      </p:sp>
      <p:sp>
        <p:nvSpPr>
          <p:cNvPr id="5" name="Oval 4"/>
          <p:cNvSpPr/>
          <p:nvPr/>
        </p:nvSpPr>
        <p:spPr>
          <a:xfrm>
            <a:off x="3200400" y="1280160"/>
            <a:ext cx="393192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/>
            </a:pPr>
            <a:r>
              <a:t>Registration / Login</a:t>
            </a:r>
          </a:p>
        </p:txBody>
      </p:sp>
      <p:sp>
        <p:nvSpPr>
          <p:cNvPr id="6" name="Oval 5"/>
          <p:cNvSpPr/>
          <p:nvPr/>
        </p:nvSpPr>
        <p:spPr>
          <a:xfrm>
            <a:off x="3200400" y="2029967"/>
            <a:ext cx="393192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/>
            </a:pPr>
            <a:r>
              <a:t>View Dashboard</a:t>
            </a:r>
          </a:p>
        </p:txBody>
      </p:sp>
      <p:sp>
        <p:nvSpPr>
          <p:cNvPr id="7" name="Oval 6"/>
          <p:cNvSpPr/>
          <p:nvPr/>
        </p:nvSpPr>
        <p:spPr>
          <a:xfrm>
            <a:off x="3200400" y="2779776"/>
            <a:ext cx="393192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/>
            </a:pPr>
            <a:r>
              <a:t>Real-time Bus Tracking</a:t>
            </a:r>
          </a:p>
        </p:txBody>
      </p:sp>
      <p:sp>
        <p:nvSpPr>
          <p:cNvPr id="8" name="Oval 7"/>
          <p:cNvSpPr/>
          <p:nvPr/>
        </p:nvSpPr>
        <p:spPr>
          <a:xfrm>
            <a:off x="3200400" y="3529584"/>
            <a:ext cx="393192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/>
            </a:pPr>
            <a:r>
              <a:t>Manage Routes (Add / Edit / Delete)</a:t>
            </a:r>
          </a:p>
        </p:txBody>
      </p:sp>
      <p:sp>
        <p:nvSpPr>
          <p:cNvPr id="9" name="Oval 8"/>
          <p:cNvSpPr/>
          <p:nvPr/>
        </p:nvSpPr>
        <p:spPr>
          <a:xfrm>
            <a:off x="3200400" y="4279392"/>
            <a:ext cx="393192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/>
            </a:pPr>
            <a:r>
              <a:t>Change Route Status</a:t>
            </a:r>
          </a:p>
        </p:txBody>
      </p:sp>
      <p:sp>
        <p:nvSpPr>
          <p:cNvPr id="10" name="Oval 9"/>
          <p:cNvSpPr/>
          <p:nvPr/>
        </p:nvSpPr>
        <p:spPr>
          <a:xfrm>
            <a:off x="3200400" y="5029200"/>
            <a:ext cx="393192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/>
            </a:pPr>
            <a:r>
              <a:t>View Safety Alarms</a:t>
            </a:r>
          </a:p>
        </p:txBody>
      </p:sp>
      <p:sp>
        <p:nvSpPr>
          <p:cNvPr id="11" name="Oval 10"/>
          <p:cNvSpPr/>
          <p:nvPr/>
        </p:nvSpPr>
        <p:spPr>
          <a:xfrm>
            <a:off x="3200400" y="5779008"/>
            <a:ext cx="393192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/>
            </a:pPr>
            <a:r>
              <a:t>Filter Alarms (Type / Date)</a:t>
            </a:r>
          </a:p>
        </p:txBody>
      </p:sp>
      <p:sp>
        <p:nvSpPr>
          <p:cNvPr id="12" name="Oval 11"/>
          <p:cNvSpPr/>
          <p:nvPr/>
        </p:nvSpPr>
        <p:spPr>
          <a:xfrm>
            <a:off x="7589520" y="1280160"/>
            <a:ext cx="393192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/>
            </a:pPr>
            <a:r>
              <a:t>Export Alarm Report (PDF)</a:t>
            </a:r>
          </a:p>
        </p:txBody>
      </p:sp>
      <p:sp>
        <p:nvSpPr>
          <p:cNvPr id="13" name="Oval 12"/>
          <p:cNvSpPr/>
          <p:nvPr/>
        </p:nvSpPr>
        <p:spPr>
          <a:xfrm>
            <a:off x="7589520" y="2029967"/>
            <a:ext cx="393192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/>
            </a:pPr>
            <a:r>
              <a:t>Manage Drivers (Add / Edit / Assign)</a:t>
            </a:r>
          </a:p>
        </p:txBody>
      </p:sp>
      <p:sp>
        <p:nvSpPr>
          <p:cNvPr id="14" name="Oval 13"/>
          <p:cNvSpPr/>
          <p:nvPr/>
        </p:nvSpPr>
        <p:spPr>
          <a:xfrm>
            <a:off x="7589520" y="2779776"/>
            <a:ext cx="393192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/>
            </a:pPr>
            <a:r>
              <a:t>View Driver-specific Alarms</a:t>
            </a:r>
          </a:p>
        </p:txBody>
      </p:sp>
      <p:sp>
        <p:nvSpPr>
          <p:cNvPr id="15" name="Oval 14"/>
          <p:cNvSpPr/>
          <p:nvPr/>
        </p:nvSpPr>
        <p:spPr>
          <a:xfrm>
            <a:off x="7589520" y="3529584"/>
            <a:ext cx="393192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/>
            </a:pPr>
            <a:r>
              <a:t>View Fleet Analytics &amp; Reports</a:t>
            </a:r>
          </a:p>
        </p:txBody>
      </p:sp>
      <p:sp>
        <p:nvSpPr>
          <p:cNvPr id="16" name="Oval 15"/>
          <p:cNvSpPr/>
          <p:nvPr/>
        </p:nvSpPr>
        <p:spPr>
          <a:xfrm>
            <a:off x="7589520" y="4279392"/>
            <a:ext cx="393192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/>
            </a:pPr>
            <a:r>
              <a:t>View Live Video Stream</a:t>
            </a:r>
          </a:p>
        </p:txBody>
      </p:sp>
      <p:sp>
        <p:nvSpPr>
          <p:cNvPr id="17" name="Oval 16"/>
          <p:cNvSpPr/>
          <p:nvPr/>
        </p:nvSpPr>
        <p:spPr>
          <a:xfrm>
            <a:off x="7589520" y="5029200"/>
            <a:ext cx="393192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/>
            </a:pPr>
            <a:r>
              <a:t>Manage Profile</a:t>
            </a:r>
          </a:p>
        </p:txBody>
      </p:sp>
      <p:sp>
        <p:nvSpPr>
          <p:cNvPr id="18" name="Oval 17"/>
          <p:cNvSpPr/>
          <p:nvPr/>
        </p:nvSpPr>
        <p:spPr>
          <a:xfrm>
            <a:off x="7589520" y="5779008"/>
            <a:ext cx="393192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/>
            </a:pPr>
            <a:r>
              <a:t>Logout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5. Use Case Diagram - Fleet Manager</a:t>
            </a:r>
          </a:p>
        </p:txBody>
      </p:sp>
      <p:sp>
        <p:nvSpPr>
          <p:cNvPr id="3" name="Oval 2"/>
          <p:cNvSpPr/>
          <p:nvPr/>
        </p:nvSpPr>
        <p:spPr>
          <a:xfrm>
            <a:off x="731520" y="2743200"/>
            <a:ext cx="1645920" cy="1645920"/>
          </a:xfrm>
          <a:prstGeom prst="ellipse">
            <a:avLst/>
          </a:prstGeom>
          <a:solidFill>
            <a:srgbClr val="DCFCE7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6A4C"/>
                </a:solidFill>
              </a:defRPr>
            </a:pPr>
            <a:r>
              <a:t>Fleet</a:t>
            </a:r>
            <a:br/>
            <a:r>
              <a:t>Manager</a:t>
            </a:r>
          </a:p>
        </p:txBody>
      </p:sp>
      <p:sp>
        <p:nvSpPr>
          <p:cNvPr id="5" name="Oval 4"/>
          <p:cNvSpPr/>
          <p:nvPr/>
        </p:nvSpPr>
        <p:spPr>
          <a:xfrm>
            <a:off x="3200400" y="1280160"/>
            <a:ext cx="393192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/>
            </a:pPr>
            <a:r>
              <a:t>Registration / Login</a:t>
            </a:r>
          </a:p>
        </p:txBody>
      </p:sp>
      <p:sp>
        <p:nvSpPr>
          <p:cNvPr id="6" name="Oval 5"/>
          <p:cNvSpPr/>
          <p:nvPr/>
        </p:nvSpPr>
        <p:spPr>
          <a:xfrm>
            <a:off x="3200400" y="2029967"/>
            <a:ext cx="393192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/>
            </a:pPr>
            <a:r>
              <a:t>View Dashboard &amp; Fleet Overview</a:t>
            </a:r>
          </a:p>
        </p:txBody>
      </p:sp>
      <p:sp>
        <p:nvSpPr>
          <p:cNvPr id="7" name="Oval 6"/>
          <p:cNvSpPr/>
          <p:nvPr/>
        </p:nvSpPr>
        <p:spPr>
          <a:xfrm>
            <a:off x="3200400" y="2779776"/>
            <a:ext cx="393192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/>
            </a:pPr>
            <a:r>
              <a:t>Real-time Bus Tracking</a:t>
            </a:r>
          </a:p>
        </p:txBody>
      </p:sp>
      <p:sp>
        <p:nvSpPr>
          <p:cNvPr id="8" name="Oval 7"/>
          <p:cNvSpPr/>
          <p:nvPr/>
        </p:nvSpPr>
        <p:spPr>
          <a:xfrm>
            <a:off x="3200400" y="3529584"/>
            <a:ext cx="393192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/>
            </a:pPr>
            <a:r>
              <a:t>View Route Details &amp; GPS Location</a:t>
            </a:r>
          </a:p>
        </p:txBody>
      </p:sp>
      <p:sp>
        <p:nvSpPr>
          <p:cNvPr id="9" name="Oval 8"/>
          <p:cNvSpPr/>
          <p:nvPr/>
        </p:nvSpPr>
        <p:spPr>
          <a:xfrm>
            <a:off x="3200400" y="4279392"/>
            <a:ext cx="393192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/>
            </a:pPr>
            <a:r>
              <a:t>Filter Routes by Status</a:t>
            </a:r>
          </a:p>
        </p:txBody>
      </p:sp>
      <p:sp>
        <p:nvSpPr>
          <p:cNvPr id="10" name="Oval 9"/>
          <p:cNvSpPr/>
          <p:nvPr/>
        </p:nvSpPr>
        <p:spPr>
          <a:xfrm>
            <a:off x="3200400" y="5029200"/>
            <a:ext cx="393192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/>
            </a:pPr>
            <a:r>
              <a:t>View Safety Alarms</a:t>
            </a:r>
          </a:p>
        </p:txBody>
      </p:sp>
      <p:sp>
        <p:nvSpPr>
          <p:cNvPr id="11" name="Oval 10"/>
          <p:cNvSpPr/>
          <p:nvPr/>
        </p:nvSpPr>
        <p:spPr>
          <a:xfrm>
            <a:off x="3200400" y="5779008"/>
            <a:ext cx="393192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/>
            </a:pPr>
            <a:r>
              <a:t>Filter Alarms (Type / Date)</a:t>
            </a:r>
          </a:p>
        </p:txBody>
      </p:sp>
      <p:sp>
        <p:nvSpPr>
          <p:cNvPr id="12" name="Oval 11"/>
          <p:cNvSpPr/>
          <p:nvPr/>
        </p:nvSpPr>
        <p:spPr>
          <a:xfrm>
            <a:off x="7589520" y="1280160"/>
            <a:ext cx="393192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/>
            </a:pPr>
            <a:r>
              <a:t>Export Alarm Report (PDF)</a:t>
            </a:r>
          </a:p>
        </p:txBody>
      </p:sp>
      <p:sp>
        <p:nvSpPr>
          <p:cNvPr id="13" name="Oval 12"/>
          <p:cNvSpPr/>
          <p:nvPr/>
        </p:nvSpPr>
        <p:spPr>
          <a:xfrm>
            <a:off x="7589520" y="2029967"/>
            <a:ext cx="393192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/>
            </a:pPr>
            <a:r>
              <a:t>View Driver List &amp; License Expiry</a:t>
            </a:r>
          </a:p>
        </p:txBody>
      </p:sp>
      <p:sp>
        <p:nvSpPr>
          <p:cNvPr id="14" name="Oval 13"/>
          <p:cNvSpPr/>
          <p:nvPr/>
        </p:nvSpPr>
        <p:spPr>
          <a:xfrm>
            <a:off x="7589520" y="2779776"/>
            <a:ext cx="393192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/>
            </a:pPr>
            <a:r>
              <a:t>Monitor Fleet Performance</a:t>
            </a:r>
          </a:p>
        </p:txBody>
      </p:sp>
      <p:sp>
        <p:nvSpPr>
          <p:cNvPr id="15" name="Oval 14"/>
          <p:cNvSpPr/>
          <p:nvPr/>
        </p:nvSpPr>
        <p:spPr>
          <a:xfrm>
            <a:off x="7589520" y="3529584"/>
            <a:ext cx="393192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/>
            </a:pPr>
            <a:r>
              <a:t>Track Fuel &amp; Overspeed</a:t>
            </a:r>
          </a:p>
        </p:txBody>
      </p:sp>
      <p:sp>
        <p:nvSpPr>
          <p:cNvPr id="16" name="Oval 15"/>
          <p:cNvSpPr/>
          <p:nvPr/>
        </p:nvSpPr>
        <p:spPr>
          <a:xfrm>
            <a:off x="7589520" y="4279392"/>
            <a:ext cx="393192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/>
            </a:pPr>
            <a:r>
              <a:t>Generate Reports</a:t>
            </a:r>
          </a:p>
        </p:txBody>
      </p:sp>
      <p:sp>
        <p:nvSpPr>
          <p:cNvPr id="17" name="Oval 16"/>
          <p:cNvSpPr/>
          <p:nvPr/>
        </p:nvSpPr>
        <p:spPr>
          <a:xfrm>
            <a:off x="7589520" y="5029200"/>
            <a:ext cx="393192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/>
            </a:pPr>
            <a:r>
              <a:t>Manage Profile</a:t>
            </a:r>
          </a:p>
        </p:txBody>
      </p:sp>
      <p:sp>
        <p:nvSpPr>
          <p:cNvPr id="18" name="Oval 17"/>
          <p:cNvSpPr/>
          <p:nvPr/>
        </p:nvSpPr>
        <p:spPr>
          <a:xfrm>
            <a:off x="7589520" y="5779008"/>
            <a:ext cx="393192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/>
            </a:pPr>
            <a:r>
              <a:t>Logout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5. Use Case Diagram - Driver (Future Mobile App)</a:t>
            </a:r>
          </a:p>
        </p:txBody>
      </p:sp>
      <p:sp>
        <p:nvSpPr>
          <p:cNvPr id="3" name="Oval 2"/>
          <p:cNvSpPr/>
          <p:nvPr/>
        </p:nvSpPr>
        <p:spPr>
          <a:xfrm>
            <a:off x="731520" y="2743200"/>
            <a:ext cx="1645920" cy="1645920"/>
          </a:xfrm>
          <a:prstGeom prst="ellipse">
            <a:avLst/>
          </a:prstGeom>
          <a:solidFill>
            <a:srgbClr val="FEF3C7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92400E"/>
                </a:solidFill>
              </a:defRPr>
            </a:pPr>
            <a:r>
              <a:t>Driver</a:t>
            </a:r>
          </a:p>
        </p:txBody>
      </p:sp>
      <p:sp>
        <p:nvSpPr>
          <p:cNvPr id="5" name="Oval 4"/>
          <p:cNvSpPr/>
          <p:nvPr/>
        </p:nvSpPr>
        <p:spPr>
          <a:xfrm>
            <a:off x="4114800" y="1280160"/>
            <a:ext cx="41148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/>
            </a:pPr>
            <a:r>
              <a:t>Login</a:t>
            </a:r>
          </a:p>
        </p:txBody>
      </p:sp>
      <p:sp>
        <p:nvSpPr>
          <p:cNvPr id="6" name="Oval 5"/>
          <p:cNvSpPr/>
          <p:nvPr/>
        </p:nvSpPr>
        <p:spPr>
          <a:xfrm>
            <a:off x="4114800" y="1810512"/>
            <a:ext cx="41148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/>
            </a:pPr>
            <a:r>
              <a:t>View Assigned Route</a:t>
            </a:r>
          </a:p>
        </p:txBody>
      </p:sp>
      <p:sp>
        <p:nvSpPr>
          <p:cNvPr id="7" name="Oval 6"/>
          <p:cNvSpPr/>
          <p:nvPr/>
        </p:nvSpPr>
        <p:spPr>
          <a:xfrm>
            <a:off x="4114800" y="2340863"/>
            <a:ext cx="41148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/>
            </a:pPr>
            <a:r>
              <a:t>View Route Navigation</a:t>
            </a:r>
          </a:p>
        </p:txBody>
      </p:sp>
      <p:sp>
        <p:nvSpPr>
          <p:cNvPr id="8" name="Oval 7"/>
          <p:cNvSpPr/>
          <p:nvPr/>
        </p:nvSpPr>
        <p:spPr>
          <a:xfrm>
            <a:off x="4114800" y="2871215"/>
            <a:ext cx="41148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/>
            </a:pPr>
            <a:r>
              <a:t>Start / End Trip</a:t>
            </a:r>
          </a:p>
        </p:txBody>
      </p:sp>
      <p:sp>
        <p:nvSpPr>
          <p:cNvPr id="9" name="Oval 8"/>
          <p:cNvSpPr/>
          <p:nvPr/>
        </p:nvSpPr>
        <p:spPr>
          <a:xfrm>
            <a:off x="4114800" y="3401568"/>
            <a:ext cx="41148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/>
            </a:pPr>
            <a:r>
              <a:t>View Trip History</a:t>
            </a:r>
          </a:p>
        </p:txBody>
      </p:sp>
      <p:sp>
        <p:nvSpPr>
          <p:cNvPr id="10" name="Oval 9"/>
          <p:cNvSpPr/>
          <p:nvPr/>
        </p:nvSpPr>
        <p:spPr>
          <a:xfrm>
            <a:off x="4114800" y="3931920"/>
            <a:ext cx="41148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/>
            </a:pPr>
            <a:r>
              <a:t>View Personal Alarm Records</a:t>
            </a:r>
          </a:p>
        </p:txBody>
      </p:sp>
      <p:sp>
        <p:nvSpPr>
          <p:cNvPr id="11" name="Oval 10"/>
          <p:cNvSpPr/>
          <p:nvPr/>
        </p:nvSpPr>
        <p:spPr>
          <a:xfrm>
            <a:off x="4114800" y="4462271"/>
            <a:ext cx="41148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/>
            </a:pPr>
            <a:r>
              <a:t>View Performance Feedback</a:t>
            </a:r>
          </a:p>
        </p:txBody>
      </p:sp>
      <p:sp>
        <p:nvSpPr>
          <p:cNvPr id="12" name="Oval 11"/>
          <p:cNvSpPr/>
          <p:nvPr/>
        </p:nvSpPr>
        <p:spPr>
          <a:xfrm>
            <a:off x="4114800" y="4992623"/>
            <a:ext cx="41148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/>
            </a:pPr>
            <a:r>
              <a:t>Update Profile &amp; License Info</a:t>
            </a:r>
          </a:p>
        </p:txBody>
      </p:sp>
      <p:sp>
        <p:nvSpPr>
          <p:cNvPr id="13" name="Oval 12"/>
          <p:cNvSpPr/>
          <p:nvPr/>
        </p:nvSpPr>
        <p:spPr>
          <a:xfrm>
            <a:off x="4114800" y="5522975"/>
            <a:ext cx="41148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/>
            </a:pPr>
            <a:r>
              <a:t>Receive Real-time Alerts</a:t>
            </a:r>
          </a:p>
        </p:txBody>
      </p:sp>
      <p:sp>
        <p:nvSpPr>
          <p:cNvPr id="14" name="Oval 13"/>
          <p:cNvSpPr/>
          <p:nvPr/>
        </p:nvSpPr>
        <p:spPr>
          <a:xfrm>
            <a:off x="4114800" y="6053327"/>
            <a:ext cx="41148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/>
            </a:pPr>
            <a:r>
              <a:t>Logout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5. Use Case Diagram - Parent (Future Mobile App)</a:t>
            </a:r>
          </a:p>
        </p:txBody>
      </p:sp>
      <p:sp>
        <p:nvSpPr>
          <p:cNvPr id="3" name="Oval 2"/>
          <p:cNvSpPr/>
          <p:nvPr/>
        </p:nvSpPr>
        <p:spPr>
          <a:xfrm>
            <a:off x="731520" y="2743200"/>
            <a:ext cx="1645920" cy="1645920"/>
          </a:xfrm>
          <a:prstGeom prst="ellipse">
            <a:avLst/>
          </a:prstGeom>
          <a:solidFill>
            <a:srgbClr val="FCE7F3"/>
          </a:solidFill>
          <a:ln w="254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BE185D"/>
                </a:solidFill>
              </a:defRPr>
            </a:pPr>
            <a:r>
              <a:t>Parent</a:t>
            </a:r>
          </a:p>
        </p:txBody>
      </p:sp>
      <p:sp>
        <p:nvSpPr>
          <p:cNvPr id="5" name="Oval 4"/>
          <p:cNvSpPr/>
          <p:nvPr/>
        </p:nvSpPr>
        <p:spPr>
          <a:xfrm>
            <a:off x="4114800" y="1280160"/>
            <a:ext cx="41148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/>
            </a:pPr>
            <a:r>
              <a:t>Registration / Login</a:t>
            </a:r>
          </a:p>
        </p:txBody>
      </p:sp>
      <p:sp>
        <p:nvSpPr>
          <p:cNvPr id="6" name="Oval 5"/>
          <p:cNvSpPr/>
          <p:nvPr/>
        </p:nvSpPr>
        <p:spPr>
          <a:xfrm>
            <a:off x="4114800" y="1810512"/>
            <a:ext cx="41148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/>
            </a:pPr>
            <a:r>
              <a:t>Track Child's Bus in Real-time</a:t>
            </a:r>
          </a:p>
        </p:txBody>
      </p:sp>
      <p:sp>
        <p:nvSpPr>
          <p:cNvPr id="7" name="Oval 6"/>
          <p:cNvSpPr/>
          <p:nvPr/>
        </p:nvSpPr>
        <p:spPr>
          <a:xfrm>
            <a:off x="4114800" y="2340863"/>
            <a:ext cx="41148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/>
            </a:pPr>
            <a:r>
              <a:t>View Route Information</a:t>
            </a:r>
          </a:p>
        </p:txBody>
      </p:sp>
      <p:sp>
        <p:nvSpPr>
          <p:cNvPr id="8" name="Oval 7"/>
          <p:cNvSpPr/>
          <p:nvPr/>
        </p:nvSpPr>
        <p:spPr>
          <a:xfrm>
            <a:off x="4114800" y="2871215"/>
            <a:ext cx="41148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/>
            </a:pPr>
            <a:r>
              <a:t>View Estimated Arrival Time</a:t>
            </a:r>
          </a:p>
        </p:txBody>
      </p:sp>
      <p:sp>
        <p:nvSpPr>
          <p:cNvPr id="9" name="Oval 8"/>
          <p:cNvSpPr/>
          <p:nvPr/>
        </p:nvSpPr>
        <p:spPr>
          <a:xfrm>
            <a:off x="4114800" y="3401568"/>
            <a:ext cx="41148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/>
            </a:pPr>
            <a:r>
              <a:t>Receive Arrival Notifications</a:t>
            </a:r>
          </a:p>
        </p:txBody>
      </p:sp>
      <p:sp>
        <p:nvSpPr>
          <p:cNvPr id="10" name="Oval 9"/>
          <p:cNvSpPr/>
          <p:nvPr/>
        </p:nvSpPr>
        <p:spPr>
          <a:xfrm>
            <a:off x="4114800" y="3931920"/>
            <a:ext cx="41148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/>
            </a:pPr>
            <a:r>
              <a:t>Receive Safety Alerts</a:t>
            </a:r>
          </a:p>
        </p:txBody>
      </p:sp>
      <p:sp>
        <p:nvSpPr>
          <p:cNvPr id="11" name="Oval 10"/>
          <p:cNvSpPr/>
          <p:nvPr/>
        </p:nvSpPr>
        <p:spPr>
          <a:xfrm>
            <a:off x="4114800" y="4462271"/>
            <a:ext cx="41148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/>
            </a:pPr>
            <a:r>
              <a:t>Submit Leave Request</a:t>
            </a:r>
          </a:p>
        </p:txBody>
      </p:sp>
      <p:sp>
        <p:nvSpPr>
          <p:cNvPr id="12" name="Oval 11"/>
          <p:cNvSpPr/>
          <p:nvPr/>
        </p:nvSpPr>
        <p:spPr>
          <a:xfrm>
            <a:off x="4114800" y="4992623"/>
            <a:ext cx="41148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/>
            </a:pPr>
            <a:r>
              <a:t>View Bus History &amp; Stops</a:t>
            </a:r>
          </a:p>
        </p:txBody>
      </p:sp>
      <p:sp>
        <p:nvSpPr>
          <p:cNvPr id="13" name="Oval 12"/>
          <p:cNvSpPr/>
          <p:nvPr/>
        </p:nvSpPr>
        <p:spPr>
          <a:xfrm>
            <a:off x="4114800" y="5522975"/>
            <a:ext cx="41148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/>
            </a:pPr>
            <a:r>
              <a:t>Manage Profile</a:t>
            </a:r>
          </a:p>
        </p:txBody>
      </p:sp>
      <p:sp>
        <p:nvSpPr>
          <p:cNvPr id="14" name="Oval 13"/>
          <p:cNvSpPr/>
          <p:nvPr/>
        </p:nvSpPr>
        <p:spPr>
          <a:xfrm>
            <a:off x="4114800" y="6053327"/>
            <a:ext cx="41148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/>
            </a:pPr>
            <a:r>
              <a:t>Logout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5. Use Case Diagram - System (Automated)</a:t>
            </a:r>
          </a:p>
        </p:txBody>
      </p:sp>
      <p:sp>
        <p:nvSpPr>
          <p:cNvPr id="3" name="Oval 2"/>
          <p:cNvSpPr/>
          <p:nvPr/>
        </p:nvSpPr>
        <p:spPr>
          <a:xfrm>
            <a:off x="731520" y="2743200"/>
            <a:ext cx="1645920" cy="1645920"/>
          </a:xfrm>
          <a:prstGeom prst="ellipse">
            <a:avLst/>
          </a:prstGeom>
          <a:solidFill>
            <a:srgbClr val="E0E7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338CA"/>
                </a:solidFill>
              </a:defRPr>
            </a:pPr>
            <a:r>
              <a:t>System</a:t>
            </a:r>
            <a:br/>
            <a:r>
              <a:t>(Automated)</a:t>
            </a:r>
          </a:p>
        </p:txBody>
      </p:sp>
      <p:sp>
        <p:nvSpPr>
          <p:cNvPr id="5" name="Oval 4"/>
          <p:cNvSpPr/>
          <p:nvPr/>
        </p:nvSpPr>
        <p:spPr>
          <a:xfrm>
            <a:off x="4114800" y="1280160"/>
            <a:ext cx="45720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/>
            </a:pPr>
            <a:r>
              <a:t>Authenticate with Tracking Server</a:t>
            </a:r>
          </a:p>
        </p:txBody>
      </p:sp>
      <p:sp>
        <p:nvSpPr>
          <p:cNvPr id="6" name="Oval 5"/>
          <p:cNvSpPr/>
          <p:nvPr/>
        </p:nvSpPr>
        <p:spPr>
          <a:xfrm>
            <a:off x="4114800" y="1810512"/>
            <a:ext cx="45720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/>
            </a:pPr>
            <a:r>
              <a:t>Poll GPS Data (Every 10 seconds)</a:t>
            </a:r>
          </a:p>
        </p:txBody>
      </p:sp>
      <p:sp>
        <p:nvSpPr>
          <p:cNvPr id="7" name="Oval 6"/>
          <p:cNvSpPr/>
          <p:nvPr/>
        </p:nvSpPr>
        <p:spPr>
          <a:xfrm>
            <a:off x="4114800" y="2340863"/>
            <a:ext cx="45720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/>
            </a:pPr>
            <a:r>
              <a:t>Poll Vehicle Alarms (Every 10 seconds)</a:t>
            </a:r>
          </a:p>
        </p:txBody>
      </p:sp>
      <p:sp>
        <p:nvSpPr>
          <p:cNvPr id="8" name="Oval 7"/>
          <p:cNvSpPr/>
          <p:nvPr/>
        </p:nvSpPr>
        <p:spPr>
          <a:xfrm>
            <a:off x="4114800" y="2871215"/>
            <a:ext cx="45720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/>
            </a:pPr>
            <a:r>
              <a:t>Group Alarm Pairs (e.g. 620+670)</a:t>
            </a:r>
          </a:p>
        </p:txBody>
      </p:sp>
      <p:sp>
        <p:nvSpPr>
          <p:cNvPr id="9" name="Oval 8"/>
          <p:cNvSpPr/>
          <p:nvPr/>
        </p:nvSpPr>
        <p:spPr>
          <a:xfrm>
            <a:off x="4114800" y="3401568"/>
            <a:ext cx="45720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/>
            </a:pPr>
            <a:r>
              <a:t>Categorize Alarm Type &amp; Severity</a:t>
            </a:r>
          </a:p>
        </p:txBody>
      </p:sp>
      <p:sp>
        <p:nvSpPr>
          <p:cNvPr id="10" name="Oval 9"/>
          <p:cNvSpPr/>
          <p:nvPr/>
        </p:nvSpPr>
        <p:spPr>
          <a:xfrm>
            <a:off x="4114800" y="3931920"/>
            <a:ext cx="45720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/>
            </a:pPr>
            <a:r>
              <a:t>Upload Alarms to Supabase DB</a:t>
            </a:r>
          </a:p>
        </p:txBody>
      </p:sp>
      <p:sp>
        <p:nvSpPr>
          <p:cNvPr id="11" name="Oval 10"/>
          <p:cNvSpPr/>
          <p:nvPr/>
        </p:nvSpPr>
        <p:spPr>
          <a:xfrm>
            <a:off x="4114800" y="4462271"/>
            <a:ext cx="45720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/>
            </a:pPr>
            <a:r>
              <a:t>Validate GPS Coordinates (India)</a:t>
            </a:r>
          </a:p>
        </p:txBody>
      </p:sp>
      <p:sp>
        <p:nvSpPr>
          <p:cNvPr id="12" name="Oval 11"/>
          <p:cNvSpPr/>
          <p:nvPr/>
        </p:nvSpPr>
        <p:spPr>
          <a:xfrm>
            <a:off x="4114800" y="4992623"/>
            <a:ext cx="45720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/>
            </a:pPr>
            <a:r>
              <a:t>Push Real-time Updates (WebSocket)</a:t>
            </a:r>
          </a:p>
        </p:txBody>
      </p:sp>
      <p:sp>
        <p:nvSpPr>
          <p:cNvPr id="13" name="Oval 12"/>
          <p:cNvSpPr/>
          <p:nvPr/>
        </p:nvSpPr>
        <p:spPr>
          <a:xfrm>
            <a:off x="4114800" y="5522975"/>
            <a:ext cx="45720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/>
            </a:pPr>
            <a:r>
              <a:t>Track Alarm GUIDs (Deduplication)</a:t>
            </a:r>
          </a:p>
        </p:txBody>
      </p:sp>
      <p:sp>
        <p:nvSpPr>
          <p:cNvPr id="14" name="Oval 13"/>
          <p:cNvSpPr/>
          <p:nvPr/>
        </p:nvSpPr>
        <p:spPr>
          <a:xfrm>
            <a:off x="4114800" y="6053327"/>
            <a:ext cx="45720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/>
            </a:pPr>
            <a:r>
              <a:t>Parse Alarm Timestamps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6. Class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280160"/>
            <a:ext cx="2926080" cy="3611880"/>
          </a:xfrm>
          <a:prstGeom prst="rect">
            <a:avLst/>
          </a:prstGeom>
          <a:solidFill>
            <a:srgbClr val="FEFECE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280160"/>
            <a:ext cx="2926080" cy="292608"/>
          </a:xfrm>
          <a:prstGeom prst="rect">
            <a:avLst/>
          </a:prstGeom>
          <a:solidFill>
            <a:srgbClr val="1E406E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BusRoute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600200"/>
            <a:ext cx="283464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</a:defRPr>
            </a:pPr>
            <a:r>
              <a:t>- id : int  [PK]</a:t>
            </a:r>
            <a:br/>
            <a:r>
              <a:t>- route_name : string</a:t>
            </a:r>
            <a:br/>
            <a:r>
              <a:t>- bus_number : string</a:t>
            </a:r>
            <a:br/>
            <a:r>
              <a:t>- start_point : string</a:t>
            </a:r>
            <a:br/>
            <a:r>
              <a:t>- end_point : string</a:t>
            </a:r>
            <a:br/>
            <a:r>
              <a:t>- device_id : string  [UQ]</a:t>
            </a:r>
            <a:br/>
            <a:r>
              <a:t>- total_stops : int</a:t>
            </a:r>
            <a:br/>
            <a:r>
              <a:t>- estimated_time : string</a:t>
            </a:r>
            <a:br/>
            <a:r>
              <a:t>- status : string</a:t>
            </a:r>
            <a:br/>
            <a:r>
              <a:t>- start_coordinates : string</a:t>
            </a:r>
            <a:br/>
            <a:r>
              <a:t>- end_coordinates : string</a:t>
            </a:r>
            <a:br/>
            <a:r>
              <a:t>- created_at : datetime</a:t>
            </a:r>
            <a:br/>
            <a:r>
              <a:t>- updated_at : datetime</a:t>
            </a:r>
            <a:br/>
            <a:r>
              <a:t>────────────────────</a:t>
            </a:r>
            <a:br/>
            <a:r>
              <a:t>+ getRoutes()</a:t>
            </a:r>
            <a:br/>
            <a:r>
              <a:t>+ upsertRoute()</a:t>
            </a:r>
            <a:br/>
            <a:r>
              <a:t>+ deleteRoute()</a:t>
            </a:r>
            <a:br/>
            <a:r>
              <a:t>+ updateRouteStatus()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0" y="1280160"/>
            <a:ext cx="2468880" cy="2148840"/>
          </a:xfrm>
          <a:prstGeom prst="rect">
            <a:avLst/>
          </a:prstGeom>
          <a:solidFill>
            <a:srgbClr val="FEFECE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0" y="1280160"/>
            <a:ext cx="2468880" cy="292608"/>
          </a:xfrm>
          <a:prstGeom prst="rect">
            <a:avLst/>
          </a:prstGeom>
          <a:solidFill>
            <a:srgbClr val="1E406E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GpsPoint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39" y="1600200"/>
            <a:ext cx="23774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</a:defRPr>
            </a:pPr>
            <a:r>
              <a:t>- id : int  [PK]</a:t>
            </a:r>
            <a:br/>
            <a:r>
              <a:t>- device_id : string  [FK]</a:t>
            </a:r>
            <a:br/>
            <a:r>
              <a:t>- latitude : float</a:t>
            </a:r>
            <a:br/>
            <a:r>
              <a:t>- longitude : float</a:t>
            </a:r>
            <a:br/>
            <a:r>
              <a:t>- speed : float</a:t>
            </a:r>
            <a:br/>
            <a:r>
              <a:t>- gps_time : datetime</a:t>
            </a:r>
            <a:br/>
            <a:r>
              <a:t>- created_at : datetime</a:t>
            </a:r>
            <a:br/>
            <a:r>
              <a:t>────────────────────</a:t>
            </a:r>
            <a:br/>
            <a:r>
              <a:t>+ getGpsHistory()</a:t>
            </a:r>
            <a:br/>
            <a:r>
              <a:t>+ getLatestGps()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3931920"/>
            <a:ext cx="2468880" cy="2880360"/>
          </a:xfrm>
          <a:prstGeom prst="rect">
            <a:avLst/>
          </a:prstGeom>
          <a:solidFill>
            <a:srgbClr val="FEFECE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0" y="3931920"/>
            <a:ext cx="2468880" cy="292608"/>
          </a:xfrm>
          <a:prstGeom prst="rect">
            <a:avLst/>
          </a:prstGeom>
          <a:solidFill>
            <a:srgbClr val="1E406E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Alarm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39" y="4251959"/>
            <a:ext cx="237744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</a:defRPr>
            </a:pPr>
            <a:r>
              <a:t>- id : int  [PK]</a:t>
            </a:r>
            <a:br/>
            <a:r>
              <a:t>- device_id : string  [FK]</a:t>
            </a:r>
            <a:br/>
            <a:r>
              <a:t>- type : string</a:t>
            </a:r>
            <a:br/>
            <a:r>
              <a:t>- description : string</a:t>
            </a:r>
            <a:br/>
            <a:r>
              <a:t>- severity : string</a:t>
            </a:r>
            <a:br/>
            <a:r>
              <a:t>- status : string</a:t>
            </a:r>
            <a:br/>
            <a:r>
              <a:t>- arm_date : date</a:t>
            </a:r>
            <a:br/>
            <a:r>
              <a:t>- arm_time : time</a:t>
            </a:r>
            <a:br/>
            <a:r>
              <a:t>- created_at : datetime</a:t>
            </a:r>
            <a:br/>
            <a:r>
              <a:t>────────────────────</a:t>
            </a:r>
            <a:br/>
            <a:r>
              <a:t>+ getAlarms()</a:t>
            </a:r>
            <a:br/>
            <a:r>
              <a:t>+ filterByType()</a:t>
            </a:r>
            <a:br/>
            <a:r>
              <a:t>+ filterByDateRange()</a:t>
            </a:r>
            <a:br/>
            <a:r>
              <a:t>+ exportToPDF()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280160"/>
            <a:ext cx="2468880" cy="2331720"/>
          </a:xfrm>
          <a:prstGeom prst="rect">
            <a:avLst/>
          </a:prstGeom>
          <a:solidFill>
            <a:srgbClr val="FEFECE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280160"/>
            <a:ext cx="2468880" cy="292608"/>
          </a:xfrm>
          <a:prstGeom prst="rect">
            <a:avLst/>
          </a:prstGeom>
          <a:solidFill>
            <a:srgbClr val="1E406E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Driver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600200"/>
            <a:ext cx="23774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</a:defRPr>
            </a:pPr>
            <a:r>
              <a:t>- id : int  [PK]</a:t>
            </a:r>
            <a:br/>
            <a:r>
              <a:t>- name : string</a:t>
            </a:r>
            <a:br/>
            <a:r>
              <a:t>- phone : string</a:t>
            </a:r>
            <a:br/>
            <a:r>
              <a:t>- licence_expiry : date</a:t>
            </a:r>
            <a:br/>
            <a:r>
              <a:t>- device_id : string  [FK]</a:t>
            </a:r>
            <a:br/>
            <a:r>
              <a:t>- status : string</a:t>
            </a:r>
            <a:br/>
            <a:r>
              <a:t>- created_at : datetime</a:t>
            </a:r>
            <a:br/>
            <a:r>
              <a:t>────────────────────</a:t>
            </a:r>
            <a:br/>
            <a:r>
              <a:t>+ getDrivers()</a:t>
            </a:r>
            <a:br/>
            <a:r>
              <a:t>+ assignToBus()</a:t>
            </a:r>
            <a:br/>
            <a:r>
              <a:t>+ checkLicenceExpiry()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931920"/>
            <a:ext cx="2468880" cy="2331720"/>
          </a:xfrm>
          <a:prstGeom prst="rect">
            <a:avLst/>
          </a:prstGeom>
          <a:solidFill>
            <a:srgbClr val="FEFECE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3931920"/>
            <a:ext cx="2468880" cy="292608"/>
          </a:xfrm>
          <a:prstGeom prst="rect">
            <a:avLst/>
          </a:prstGeom>
          <a:solidFill>
            <a:srgbClr val="1E406E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User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4251959"/>
            <a:ext cx="23774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</a:defRPr>
            </a:pPr>
            <a:r>
              <a:t>- id : int  [PK]</a:t>
            </a:r>
            <a:br/>
            <a:r>
              <a:t>- email : string  [UQ]</a:t>
            </a:r>
            <a:br/>
            <a:r>
              <a:t>- password : string</a:t>
            </a:r>
            <a:br/>
            <a:r>
              <a:t>- full_name : string</a:t>
            </a:r>
            <a:br/>
            <a:r>
              <a:t>- role : string</a:t>
            </a:r>
            <a:br/>
            <a:r>
              <a:t>- created_at : datetime</a:t>
            </a:r>
            <a:br/>
            <a:r>
              <a:t>────────────────────</a:t>
            </a:r>
            <a:br/>
            <a:r>
              <a:t>+ register()</a:t>
            </a:r>
            <a:br/>
            <a:r>
              <a:t>+ login()</a:t>
            </a:r>
            <a:br/>
            <a:r>
              <a:t>+ logout()</a:t>
            </a:r>
            <a:br/>
            <a:r>
              <a:t>+ updateProfile()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1280160"/>
            <a:ext cx="2926080" cy="2331720"/>
          </a:xfrm>
          <a:prstGeom prst="rect">
            <a:avLst/>
          </a:prstGeom>
          <a:solidFill>
            <a:srgbClr val="FEFECE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61120" y="1280160"/>
            <a:ext cx="2926080" cy="292608"/>
          </a:xfrm>
          <a:prstGeom prst="rect">
            <a:avLst/>
          </a:prstGeom>
          <a:solidFill>
            <a:srgbClr val="1E406E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AlarmProcessor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1600200"/>
            <a:ext cx="28346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</a:defRPr>
            </a:pPr>
            <a:r>
              <a:t>- BASE_URL : string</a:t>
            </a:r>
            <a:br/>
            <a:r>
              <a:t>- DEVICE_ID : string</a:t>
            </a:r>
            <a:br/>
            <a:r>
              <a:t>- POLL_INTERVAL : int</a:t>
            </a:r>
            <a:br/>
            <a:r>
              <a:t>- PAIRING_WINDOW : int</a:t>
            </a:r>
            <a:br/>
            <a:r>
              <a:t>- JSESSIONID : string</a:t>
            </a:r>
            <a:br/>
            <a:r>
              <a:t>────────────────────</a:t>
            </a:r>
            <a:br/>
            <a:r>
              <a:t>+ authenticate()</a:t>
            </a:r>
            <a:br/>
            <a:r>
              <a:t>+ pollAlarms()</a:t>
            </a:r>
            <a:br/>
            <a:r>
              <a:t>+ groupAlarmPairs()</a:t>
            </a:r>
            <a:br/>
            <a:r>
              <a:t>+ parseTimestamp()</a:t>
            </a:r>
            <a:br/>
            <a:r>
              <a:t>+ uploadToSupabase()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1120" y="3931920"/>
            <a:ext cx="2926080" cy="1783080"/>
          </a:xfrm>
          <a:prstGeom prst="rect">
            <a:avLst/>
          </a:prstGeom>
          <a:solidFill>
            <a:srgbClr val="FEFECE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61120" y="3931920"/>
            <a:ext cx="2926080" cy="292608"/>
          </a:xfrm>
          <a:prstGeom prst="rect">
            <a:avLst/>
          </a:prstGeom>
          <a:solidFill>
            <a:srgbClr val="1E406E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Session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4251959"/>
            <a:ext cx="2834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</a:defRPr>
            </a:pPr>
            <a:r>
              <a:t>- token : string</a:t>
            </a:r>
            <a:br/>
            <a:r>
              <a:t>- user_id : string</a:t>
            </a:r>
            <a:br/>
            <a:r>
              <a:t>- email : string</a:t>
            </a:r>
            <a:br/>
            <a:r>
              <a:t>- expires_at : datetime</a:t>
            </a:r>
            <a:br/>
            <a:r>
              <a:t>────────────────────</a:t>
            </a:r>
            <a:br/>
            <a:r>
              <a:t>+ isValid()</a:t>
            </a:r>
            <a:br/>
            <a:r>
              <a:t>+ refresh()</a:t>
            </a:r>
            <a:br/>
            <a:r>
              <a:t>+ destroy()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7. Activity Diagram - Main System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188720"/>
            <a:ext cx="5486400" cy="411480"/>
          </a:xfrm>
          <a:prstGeom prst="rect">
            <a:avLst/>
          </a:prstGeom>
          <a:solidFill>
            <a:srgbClr val="DBEAFE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3A5F"/>
                </a:solidFill>
              </a:defRPr>
            </a:pPr>
            <a:r>
              <a:t>User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188720"/>
            <a:ext cx="5486400" cy="411480"/>
          </a:xfrm>
          <a:prstGeom prst="rect">
            <a:avLst/>
          </a:prstGeom>
          <a:solidFill>
            <a:srgbClr val="DCFCE7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66A4C"/>
                </a:solidFill>
              </a:defRPr>
            </a:pPr>
            <a:r>
              <a:t>System</a:t>
            </a:r>
          </a:p>
        </p:txBody>
      </p:sp>
      <p:sp>
        <p:nvSpPr>
          <p:cNvPr id="5" name="Oval 4"/>
          <p:cNvSpPr/>
          <p:nvPr/>
        </p:nvSpPr>
        <p:spPr>
          <a:xfrm>
            <a:off x="2468880" y="1691640"/>
            <a:ext cx="457200" cy="320040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148840"/>
            <a:ext cx="3566160" cy="36576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/>
            </a:pPr>
            <a:r>
              <a:t>Registration / Login</a:t>
            </a:r>
          </a:p>
        </p:txBody>
      </p:sp>
      <p:sp>
        <p:nvSpPr>
          <p:cNvPr id="7" name="Down Arrow 6"/>
          <p:cNvSpPr/>
          <p:nvPr/>
        </p:nvSpPr>
        <p:spPr>
          <a:xfrm>
            <a:off x="2560320" y="2514600"/>
            <a:ext cx="274320" cy="91440"/>
          </a:xfrm>
          <a:prstGeom prst="downArrow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2606040"/>
            <a:ext cx="3566160" cy="36576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/>
            </a:pPr>
            <a:r>
              <a:t>View Dashboard</a:t>
            </a:r>
          </a:p>
        </p:txBody>
      </p:sp>
      <p:sp>
        <p:nvSpPr>
          <p:cNvPr id="9" name="Down Arrow 8"/>
          <p:cNvSpPr/>
          <p:nvPr/>
        </p:nvSpPr>
        <p:spPr>
          <a:xfrm>
            <a:off x="2560320" y="2971800"/>
            <a:ext cx="274320" cy="91440"/>
          </a:xfrm>
          <a:prstGeom prst="downArrow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3063240"/>
            <a:ext cx="3566160" cy="36576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/>
            </a:pPr>
            <a:r>
              <a:t>Select Bus Route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2560320" y="3429000"/>
            <a:ext cx="274320" cy="91440"/>
          </a:xfrm>
          <a:prstGeom prst="downArrow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3520440"/>
            <a:ext cx="3566160" cy="365760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/>
            </a:pPr>
            <a:r>
              <a:t>View Real-time Bus Tracking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2560320" y="3886200"/>
            <a:ext cx="274320" cy="91440"/>
          </a:xfrm>
          <a:prstGeom prst="downArrow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iamond 13"/>
          <p:cNvSpPr/>
          <p:nvPr/>
        </p:nvSpPr>
        <p:spPr>
          <a:xfrm>
            <a:off x="1097280" y="3931920"/>
            <a:ext cx="3200400" cy="43891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/>
            </a:pPr>
            <a:r>
              <a:t>Manage Route?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2560320" y="4343400"/>
            <a:ext cx="274320" cy="91440"/>
          </a:xfrm>
          <a:prstGeom prst="downArrow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4400" y="4434840"/>
            <a:ext cx="3566160" cy="36576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/>
            </a:pPr>
            <a:r>
              <a:t>View Safety Alarms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2560320" y="4800600"/>
            <a:ext cx="274320" cy="91440"/>
          </a:xfrm>
          <a:prstGeom prst="downArrow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4400" y="4892040"/>
            <a:ext cx="3566160" cy="36576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/>
            </a:pPr>
            <a:r>
              <a:t>Filter Alarms &amp; Export PDF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2560320" y="5257800"/>
            <a:ext cx="274320" cy="91440"/>
          </a:xfrm>
          <a:prstGeom prst="downArrow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4400" y="5349240"/>
            <a:ext cx="3566160" cy="365760"/>
          </a:xfrm>
          <a:prstGeom prst="roundRect">
            <a:avLst/>
          </a:prstGeom>
          <a:solidFill>
            <a:srgbClr val="F3E8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/>
            </a:pPr>
            <a:r>
              <a:t>View Drivers &amp; Reports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2560320" y="5715000"/>
            <a:ext cx="274320" cy="91440"/>
          </a:xfrm>
          <a:prstGeom prst="downArrow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4400" y="5806440"/>
            <a:ext cx="3566160" cy="36576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/>
            </a:pPr>
            <a:r>
              <a:t>Manage Profile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2560320" y="6172200"/>
            <a:ext cx="274320" cy="91440"/>
          </a:xfrm>
          <a:prstGeom prst="downArrow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14400" y="6263640"/>
            <a:ext cx="3566160" cy="36576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/>
            </a:pPr>
            <a:r>
              <a:t>Logout</a:t>
            </a:r>
          </a:p>
        </p:txBody>
      </p:sp>
      <p:sp>
        <p:nvSpPr>
          <p:cNvPr id="25" name="Oval 24"/>
          <p:cNvSpPr/>
          <p:nvPr/>
        </p:nvSpPr>
        <p:spPr>
          <a:xfrm>
            <a:off x="2468880" y="6766559"/>
            <a:ext cx="457200" cy="320040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542032" y="6830568"/>
            <a:ext cx="310896" cy="192024"/>
          </a:xfrm>
          <a:prstGeom prst="ellipse">
            <a:avLst/>
          </a:prstGeom>
          <a:solidFill>
            <a:srgbClr val="0000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858000" y="2148840"/>
            <a:ext cx="3566160" cy="36576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/>
            </a:pPr>
            <a:r>
              <a:t>Validate Credentials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4572000" y="2258568"/>
            <a:ext cx="2194560" cy="13716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858000" y="2606040"/>
            <a:ext cx="3566160" cy="36576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/>
            </a:pPr>
            <a:r>
              <a:t>Fetch Routes from</a:t>
            </a:r>
            <a:br/>
            <a:r>
              <a:t>Supabase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4572000" y="2715768"/>
            <a:ext cx="2194560" cy="13716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858000" y="3063240"/>
            <a:ext cx="3566160" cy="36576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/>
            </a:pPr>
            <a:r>
              <a:t>Subscribe to Supabase</a:t>
            </a:r>
            <a:br/>
            <a:r>
              <a:t>Realtime (GPS)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4572000" y="3172968"/>
            <a:ext cx="2194560" cy="13716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858000" y="3520440"/>
            <a:ext cx="3566160" cy="365760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/>
            </a:pPr>
            <a:r>
              <a:t>Poll GPS Data</a:t>
            </a:r>
            <a:br/>
            <a:r>
              <a:t>(Every 10 sec)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4572000" y="3630168"/>
            <a:ext cx="2194560" cy="13716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858000" y="3977639"/>
            <a:ext cx="3566160" cy="365760"/>
          </a:xfrm>
          <a:prstGeom prst="roundRect">
            <a:avLst/>
          </a:prstGeom>
          <a:solidFill>
            <a:srgbClr val="EDFAFB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/>
            </a:pPr>
            <a:r>
              <a:t>Display Color-coded</a:t>
            </a:r>
            <a:br/>
            <a:r>
              <a:t>Bus Markers on Map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4572000" y="4087368"/>
            <a:ext cx="2194560" cy="13716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858000" y="4434840"/>
            <a:ext cx="3566160" cy="36576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/>
            </a:pPr>
            <a:r>
              <a:t>Process &amp; Display</a:t>
            </a:r>
            <a:br/>
            <a:r>
              <a:t>Alarm Data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4572000" y="4544568"/>
            <a:ext cx="2194560" cy="13716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858000" y="4892040"/>
            <a:ext cx="3566160" cy="36576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/>
            </a:pPr>
            <a:r>
              <a:t>Generate PDF</a:t>
            </a:r>
            <a:br/>
            <a:r>
              <a:t>Report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4572000" y="5001768"/>
            <a:ext cx="2194560" cy="13716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858000" y="5349240"/>
            <a:ext cx="3566160" cy="365760"/>
          </a:xfrm>
          <a:prstGeom prst="roundRect">
            <a:avLst/>
          </a:prstGeom>
          <a:solidFill>
            <a:srgbClr val="F3E8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/>
            </a:pPr>
            <a:r>
              <a:t>Fetch Driver &amp;</a:t>
            </a:r>
            <a:br/>
            <a:r>
              <a:t>Analytics Data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4572000" y="5458968"/>
            <a:ext cx="2194560" cy="13716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858000" y="5806440"/>
            <a:ext cx="3566160" cy="36576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/>
            </a:pPr>
            <a:r>
              <a:t>Save Profile</a:t>
            </a:r>
            <a:br/>
            <a:r>
              <a:t>Changes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4572000" y="5916168"/>
            <a:ext cx="2194560" cy="13716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858000" y="6263640"/>
            <a:ext cx="3566160" cy="36576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/>
            </a:pPr>
            <a:r>
              <a:t>Clear Session &amp;</a:t>
            </a:r>
            <a:br/>
            <a:r>
              <a:t>Redirect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4572000" y="6373368"/>
            <a:ext cx="2194560" cy="13716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8. Data Dictionary - bus_routes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59228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Sr No.</a:t>
                      </a:r>
                    </a:p>
                  </a:txBody>
                  <a:tcPr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Field Name</a:t>
                      </a:r>
                    </a:p>
                  </a:txBody>
                  <a:tcPr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Data Type</a:t>
                      </a:r>
                    </a:p>
                  </a:txBody>
                  <a:tcPr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Constraint</a:t>
                      </a:r>
                    </a:p>
                  </a:txBody>
                  <a:tcPr>
                    <a:solidFill>
                      <a:srgbClr val="1E406E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INT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Primary Key, Auto Increment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route_name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VARCHAR(255)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bus_number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VARCHAR(50)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start_point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VARCHAR(255)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end_point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VARCHAR(255)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device_id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VARCHAR(100)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Not Null, Unique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total_stops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INT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Default 0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estimated_time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VARCHAR(50)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Null Allowed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VARCHAR(20)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Not Null (active/maintenance/inactive)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start_coordinates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VARCHAR(100)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Null Allowed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end_coordinates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VARCHAR(100)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Null Allowed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created_at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TIMESTAMP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Not Null, Default NOW()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9236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updated_at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TIMESTAMP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Not Null, Default NOW()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8. Data Dictionary - gps_data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40005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Sr No.</a:t>
                      </a:r>
                    </a:p>
                  </a:txBody>
                  <a:tcPr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Field Name</a:t>
                      </a:r>
                    </a:p>
                  </a:txBody>
                  <a:tcPr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Data Type</a:t>
                      </a:r>
                    </a:p>
                  </a:txBody>
                  <a:tcPr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Constraint</a:t>
                      </a:r>
                    </a:p>
                  </a:txBody>
                  <a:tcPr>
                    <a:solidFill>
                      <a:srgbClr val="1E406E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INT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Primary Key, Auto Increment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device_id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VARCHAR(100)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Foreign Key -&gt; bus_routes.device_id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latitude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FLOAT(8)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longitude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FLOAT(8)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speed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FLOAT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Default 0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gps_time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TIMESTAMP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created_at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TIMESTAMP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Not Null, Default NOW()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754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6464"/>
                </a:solidFill>
              </a:defRPr>
            </a:pPr>
            <a:r>
              <a:t>Purpose: Stores real-time GPS location data received from GPS tracking devices installed in school buses.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212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3A5F"/>
                </a:solidFill>
              </a:defRPr>
            </a:pPr>
            <a:r>
              <a:t>Foreign Key: device_id references bus_routes.device_id (ON DELETE CASCADE)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8. Data Dictionary - alarms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471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Sr No.</a:t>
                      </a:r>
                    </a:p>
                  </a:txBody>
                  <a:tcPr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Field Name</a:t>
                      </a:r>
                    </a:p>
                  </a:txBody>
                  <a:tcPr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Data Type</a:t>
                      </a:r>
                    </a:p>
                  </a:txBody>
                  <a:tcPr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Constraint</a:t>
                      </a:r>
                    </a:p>
                  </a:txBody>
                  <a:tcPr>
                    <a:solidFill>
                      <a:srgbClr val="1E406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INT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Primary Key, Auto Increment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device_id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VARCHAR(100)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Foreign Key -&gt; bus_routes.device_id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VARCHAR(100)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Null Allowed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severity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VARCHAR(20)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Null Allowed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VARCHAR(20)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Null Allowed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arm_date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DATE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Null Allowed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arm_time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Null Allowed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created_at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TIMESTAMP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Not Null, Default NOW()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394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6464"/>
                </a:solidFill>
              </a:defRPr>
            </a:pPr>
            <a:r>
              <a:t>Purpose: Stores safety alarm events from DMS/ADAS sensors (phone usage, fatigue, collision, etc.)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852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3A5F"/>
                </a:solidFill>
              </a:defRPr>
            </a:pPr>
            <a:r>
              <a:t>Foreign Key: device_id references bus_routes.device_id (ON DELETE CASCADE)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8. Data Dictionary - drivers &amp;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3A5F"/>
                </a:solidFill>
              </a:defRPr>
            </a:pPr>
            <a:r>
              <a:t>drivers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54480"/>
          <a:ext cx="53035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Sr No.</a:t>
                      </a:r>
                    </a:p>
                  </a:txBody>
                  <a:tcPr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Field Name</a:t>
                      </a:r>
                    </a:p>
                  </a:txBody>
                  <a:tcPr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Data Type</a:t>
                      </a:r>
                    </a:p>
                  </a:txBody>
                  <a:tcPr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Constraint</a:t>
                      </a:r>
                    </a:p>
                  </a:txBody>
                  <a:tcPr>
                    <a:solidFill>
                      <a:srgbClr val="1E406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INT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Primary Key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VARCHAR(255)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phone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VARCHAR(20)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licence_expiry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device_id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VARCHAR(100)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Foreign Key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VARCHAR(20)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Default 'active'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created_at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TIMESTAMP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21792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3A5F"/>
                </a:solidFill>
              </a:defRPr>
            </a:pPr>
            <a:r>
              <a:t>users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17920" y="1554480"/>
          <a:ext cx="54864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Sr No.</a:t>
                      </a:r>
                    </a:p>
                  </a:txBody>
                  <a:tcPr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Field Name</a:t>
                      </a:r>
                    </a:p>
                  </a:txBody>
                  <a:tcPr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Data Type</a:t>
                      </a:r>
                    </a:p>
                  </a:txBody>
                  <a:tcPr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Constraint</a:t>
                      </a:r>
                    </a:p>
                  </a:txBody>
                  <a:tcPr>
                    <a:solidFill>
                      <a:srgbClr val="1E406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INT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Primary Key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full_name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VARCHAR(255)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email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VARCHAR(100)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Not Null, Unique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password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VARCHAR(255)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VARCHAR(20)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created_at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TIMESTAMP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Not 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754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6464"/>
                </a:solidFill>
              </a:defRPr>
            </a:pPr>
            <a:r>
              <a:t>drivers.device_id -&gt; bus_routes.device_id (ON DELETE SET NULL)  |  Users role: admin, fleet_manager, driver, parent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8. Data Dictionary - Alarm Type Reference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471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9901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Alarm Code Pair</a:t>
                      </a:r>
                    </a:p>
                  </a:txBody>
                  <a:tcPr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Alarm Type</a:t>
                      </a:r>
                    </a:p>
                  </a:txBody>
                  <a:tcPr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Severity</a:t>
                      </a:r>
                    </a:p>
                  </a:txBody>
                  <a:tcPr>
                    <a:solidFill>
                      <a:srgbClr val="1E406E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620 + 670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PHONE_USAGE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Driver using phone while driving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734 + 784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CAMERA_BLOCKING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Camera lens blocked or obstructed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618 + 668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DRIVER_FATIGUE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Driver showing signs of drowsiness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624 + 674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DRIVER_DISTRACTION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Driver not paying attention to road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622 + 672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SMOKING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Driver smoking while on duty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721 + 771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HARSH_BRAKING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Sudden or aggressive braking detected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606 + 656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FRONT_PREDETECTION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Front obstacle pre-detection warning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602 + 652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LANE_DEPARTURE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Vehicle departing from lane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600 + 650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COLLISION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Collision detected or near-miss event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3990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247 + 297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PARK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Vehicle parking event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6464"/>
                </a:solidFill>
              </a:defRPr>
            </a:pPr>
            <a:r>
              <a:t>alarm.py pairs alarm codes within a 30-second window and categorizes them into the types listed above.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9. Finalized Database Schema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6464"/>
                </a:solidFill>
              </a:defRPr>
            </a:pPr>
            <a:r>
              <a:t>Database: PostgreSQL (Supabase)   |   5 Tables   |   42 Columns   |   10 Indexes   |   5 Foreign Keys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737360"/>
          <a:ext cx="116128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2576"/>
                <a:gridCol w="2322576"/>
                <a:gridCol w="2322576"/>
                <a:gridCol w="2322576"/>
                <a:gridCol w="2322576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Table Name</a:t>
                      </a:r>
                    </a:p>
                  </a:txBody>
                  <a:tcPr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Total Columns</a:t>
                      </a:r>
                    </a:p>
                  </a:txBody>
                  <a:tcPr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Primary Key</a:t>
                      </a:r>
                    </a:p>
                  </a:txBody>
                  <a:tcPr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Foreign Keys</a:t>
                      </a:r>
                    </a:p>
                  </a:txBody>
                  <a:tcPr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1E406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users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id (INT)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User authentication &amp; role management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bus_routes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id (INT)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Bus route information &amp; device mapping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gps_data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id (INT)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device_id -&gt; bus_routes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Real-time GPS location from trackers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alarms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id (INT)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device_id -&gt; bus_routes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Safety alarm events from DMS/ADAS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drivers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id (INT)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device_id -&gt; bus_routes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Driver profiles &amp; bus assignment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663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3A5F"/>
                </a:solidFill>
              </a:defRPr>
            </a:pPr>
            <a:r>
              <a:t>Table Relationships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5120640"/>
          <a:ext cx="116128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2576"/>
                <a:gridCol w="2322576"/>
                <a:gridCol w="2322576"/>
                <a:gridCol w="2322576"/>
                <a:gridCol w="2322576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Parent Table</a:t>
                      </a:r>
                    </a:p>
                  </a:txBody>
                  <a:tcPr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Child Table</a:t>
                      </a:r>
                    </a:p>
                  </a:txBody>
                  <a:tcPr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Relationship Type</a:t>
                      </a:r>
                    </a:p>
                  </a:txBody>
                  <a:tcPr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FK Column</a:t>
                      </a:r>
                    </a:p>
                  </a:txBody>
                  <a:tcPr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On Delete Action</a:t>
                      </a:r>
                    </a:p>
                  </a:txBody>
                  <a:tcPr>
                    <a:solidFill>
                      <a:srgbClr val="1E406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bus_routes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gps_data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One-to-Many (1:M)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device_id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CASCADE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bus_routes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alarms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One-to-Many (1:M)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device_id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CASCADE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bus_routes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drivers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One-to-One (1:1)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device_id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SET NULL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10. ER Diagram &amp; Relationships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6464"/>
                </a:solidFill>
              </a:defRPr>
            </a:pPr>
            <a:r>
              <a:t>Entity-Relationship Diagram showing logical relationships between all database tables in Bus Buddy system.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103120"/>
            <a:ext cx="2286000" cy="1645920"/>
          </a:xfrm>
          <a:prstGeom prst="roundRect">
            <a:avLst/>
          </a:prstGeom>
          <a:solidFill>
            <a:srgbClr val="DBEAFE"/>
          </a:solidFill>
          <a:ln w="317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2103120"/>
            <a:ext cx="2286000" cy="365760"/>
          </a:xfrm>
          <a:prstGeom prst="roundRect">
            <a:avLst/>
          </a:prstGeom>
          <a:solidFill>
            <a:srgbClr val="1E3A5F"/>
          </a:solidFill>
          <a:ln w="254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users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</a:defRPr>
            </a:pPr>
            <a:r>
              <a:t>PK: id</a:t>
            </a:r>
            <a:br/>
            <a:r>
              <a:t>email (UQ)</a:t>
            </a:r>
            <a:br/>
            <a:r>
              <a:t>full_name</a:t>
            </a:r>
            <a:br/>
            <a:r>
              <a:t>password</a:t>
            </a:r>
            <a:br/>
            <a:r>
              <a:t>role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2103120"/>
            <a:ext cx="2560320" cy="2011680"/>
          </a:xfrm>
          <a:prstGeom prst="roundRect">
            <a:avLst/>
          </a:prstGeom>
          <a:solidFill>
            <a:srgbClr val="DCFCE7"/>
          </a:solidFill>
          <a:ln w="317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840480" y="2103120"/>
            <a:ext cx="2560320" cy="365760"/>
          </a:xfrm>
          <a:prstGeom prst="roundRect">
            <a:avLst/>
          </a:prstGeom>
          <a:solidFill>
            <a:srgbClr val="10B981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bus_routes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2514600"/>
            <a:ext cx="237743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</a:defRPr>
            </a:pPr>
            <a:r>
              <a:t>PK: id</a:t>
            </a:r>
            <a:br/>
            <a:r>
              <a:t>device_id (UQ)</a:t>
            </a:r>
            <a:br/>
            <a:r>
              <a:t>route_name</a:t>
            </a:r>
            <a:br/>
            <a:r>
              <a:t>bus_number</a:t>
            </a:r>
            <a:br/>
            <a:r>
              <a:t>start/end_point</a:t>
            </a:r>
            <a:br/>
            <a:r>
              <a:t>status</a:t>
            </a:r>
            <a:br/>
            <a:r>
              <a:t>coordinates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1371600"/>
            <a:ext cx="2286000" cy="1645920"/>
          </a:xfrm>
          <a:prstGeom prst="roundRect">
            <a:avLst/>
          </a:prstGeom>
          <a:solidFill>
            <a:srgbClr val="FEF3C7"/>
          </a:solidFill>
          <a:ln w="317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0" y="1371600"/>
            <a:ext cx="2286000" cy="365760"/>
          </a:xfrm>
          <a:prstGeom prst="roundRect">
            <a:avLst/>
          </a:prstGeom>
          <a:solidFill>
            <a:srgbClr val="F59E0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gps_data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178308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</a:defRPr>
            </a:pPr>
            <a:r>
              <a:t>PK: id</a:t>
            </a:r>
            <a:br/>
            <a:r>
              <a:t>FK: device_id</a:t>
            </a:r>
            <a:br/>
            <a:r>
              <a:t>latitude</a:t>
            </a:r>
            <a:br/>
            <a:r>
              <a:t>longitude</a:t>
            </a:r>
            <a:br/>
            <a:r>
              <a:t>speed</a:t>
            </a:r>
            <a:br/>
            <a:r>
              <a:t>gps_time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3291840"/>
            <a:ext cx="2286000" cy="1645920"/>
          </a:xfrm>
          <a:prstGeom prst="roundRect">
            <a:avLst/>
          </a:prstGeom>
          <a:solidFill>
            <a:srgbClr val="FEE2E2"/>
          </a:solidFill>
          <a:ln w="317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772400" y="3291840"/>
            <a:ext cx="2286000" cy="365760"/>
          </a:xfrm>
          <a:prstGeom prst="roundRect">
            <a:avLst/>
          </a:prstGeom>
          <a:solidFill>
            <a:srgbClr val="EF4444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alarms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370332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</a:defRPr>
            </a:pPr>
            <a:r>
              <a:t>PK: id</a:t>
            </a:r>
            <a:br/>
            <a:r>
              <a:t>FK: device_id</a:t>
            </a:r>
            <a:br/>
            <a:r>
              <a:t>type</a:t>
            </a:r>
            <a:br/>
            <a:r>
              <a:t>description</a:t>
            </a:r>
            <a:br/>
            <a:r>
              <a:t>severity</a:t>
            </a:r>
            <a:br/>
            <a:r>
              <a:t>arm_date/time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5212080"/>
            <a:ext cx="2286000" cy="1645920"/>
          </a:xfrm>
          <a:prstGeom prst="roundRect">
            <a:avLst/>
          </a:prstGeom>
          <a:solidFill>
            <a:srgbClr val="F3E8FF"/>
          </a:solidFill>
          <a:ln w="317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0" y="5212080"/>
            <a:ext cx="2286000" cy="365760"/>
          </a:xfrm>
          <a:prstGeom prst="roundRect">
            <a:avLst/>
          </a:prstGeom>
          <a:solidFill>
            <a:srgbClr val="7C3AED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drivers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562356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</a:defRPr>
            </a:pPr>
            <a:r>
              <a:t>PK: id</a:t>
            </a:r>
            <a:br/>
            <a:r>
              <a:t>FK: device_id</a:t>
            </a:r>
            <a:br/>
            <a:r>
              <a:t>name</a:t>
            </a:r>
            <a:br/>
            <a:r>
              <a:t>phone</a:t>
            </a:r>
            <a:br/>
            <a:r>
              <a:t>licence_expiry</a:t>
            </a:r>
            <a:br/>
            <a:r>
              <a:t>status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2743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3A5F"/>
                </a:solidFill>
              </a:defRPr>
            </a:pPr>
            <a:r>
              <a:t>1 : 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3108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6464"/>
                </a:solidFill>
              </a:defRPr>
            </a:pPr>
            <a:r>
              <a:t>manages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828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0000"/>
                </a:solidFill>
              </a:defRPr>
            </a:pPr>
            <a:r>
              <a:t>1 : 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566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0000"/>
                </a:solidFill>
              </a:defRPr>
            </a:pPr>
            <a:r>
              <a:t>1 : 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6692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0000"/>
                </a:solidFill>
              </a:defRPr>
            </a:pPr>
            <a:r>
              <a:t>1 :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6400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6464"/>
                </a:solidFill>
              </a:defRPr>
            </a:pPr>
            <a:r>
              <a:t>bus_routes.device_id  ------&gt;&gt;  gps_data (1:M, CASCADE)   |   alarms (1:M, CASCADE)   |   drivers (1:1, SET NULL)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Page Structure / Sitemap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280160"/>
            <a:ext cx="3657600" cy="118872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79" y="13258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3A5F"/>
                </a:solidFill>
              </a:defRPr>
            </a:pPr>
            <a:r>
              <a:t>/ (Landing Page)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79" y="1691639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6464"/>
                </a:solidFill>
              </a:defRPr>
            </a:pPr>
            <a:r>
              <a:t>Public marketing page with features, stats, FAQ, contact info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280160"/>
            <a:ext cx="3657600" cy="118872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43400" y="13258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3A5F"/>
                </a:solidFill>
              </a:defRPr>
            </a:pPr>
            <a:r>
              <a:t>/login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1691639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6464"/>
                </a:solidFill>
              </a:defRPr>
            </a:pPr>
            <a:r>
              <a:t>User authentication - email &amp; password login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280160"/>
            <a:ext cx="3657600" cy="118872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3258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3A5F"/>
                </a:solidFill>
              </a:defRPr>
            </a:pPr>
            <a:r>
              <a:t>/register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1691639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6464"/>
                </a:solidFill>
              </a:defRPr>
            </a:pPr>
            <a:r>
              <a:t>New user account creation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651760"/>
            <a:ext cx="3657600" cy="11887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2697479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3A5F"/>
                </a:solidFill>
              </a:defRPr>
            </a:pPr>
            <a:r>
              <a:t>/dashboard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306324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6464"/>
                </a:solidFill>
              </a:defRPr>
            </a:pPr>
            <a:r>
              <a:t>Fleet overview, route stats, analytics charts, KPIs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2651760"/>
            <a:ext cx="3657600" cy="1188720"/>
          </a:xfrm>
          <a:prstGeom prst="roundRect">
            <a:avLst/>
          </a:prstGeom>
          <a:solidFill>
            <a:srgbClr val="E0E7FF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2697479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3A5F"/>
                </a:solidFill>
              </a:defRPr>
            </a:pPr>
            <a:r>
              <a:t>/tracking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306324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6464"/>
                </a:solidFill>
              </a:defRPr>
            </a:pPr>
            <a:r>
              <a:t>Real-time GPS map with live bus markers (Leaflet)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2651760"/>
            <a:ext cx="3657600" cy="1188720"/>
          </a:xfrm>
          <a:prstGeom prst="roundRect">
            <a:avLst/>
          </a:prstGeom>
          <a:solidFill>
            <a:srgbClr val="EDFAFB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2697479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3A5F"/>
                </a:solidFill>
              </a:defRPr>
            </a:pPr>
            <a:r>
              <a:t>/routes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306324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6464"/>
                </a:solidFill>
              </a:defRPr>
            </a:pPr>
            <a:r>
              <a:t>Route CRUD operations, status management, GPS linking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" y="4023360"/>
            <a:ext cx="3657600" cy="1188720"/>
          </a:xfrm>
          <a:prstGeom prst="roundRect">
            <a:avLst/>
          </a:prstGeom>
          <a:solidFill>
            <a:srgbClr val="FEE2E2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79" y="40690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3A5F"/>
                </a:solidFill>
              </a:defRPr>
            </a:pPr>
            <a:r>
              <a:t>/alarms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79" y="443484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6464"/>
                </a:solidFill>
              </a:defRPr>
            </a:pPr>
            <a:r>
              <a:t>Safety alarm dashboard, filtering, PDF export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06240" y="4023360"/>
            <a:ext cx="3657600" cy="1188720"/>
          </a:xfrm>
          <a:prstGeom prst="roundRect">
            <a:avLst/>
          </a:prstGeom>
          <a:solidFill>
            <a:srgbClr val="FCE7F3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43400" y="40690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3A5F"/>
                </a:solidFill>
              </a:defRPr>
            </a:pPr>
            <a:r>
              <a:t>/drivers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443484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6464"/>
                </a:solidFill>
              </a:defRPr>
            </a:pPr>
            <a:r>
              <a:t>Driver list, profiles, license tracking, bus assignment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4023360"/>
            <a:ext cx="3657600" cy="1188720"/>
          </a:xfrm>
          <a:prstGeom prst="roundRect">
            <a:avLst/>
          </a:prstGeom>
          <a:solidFill>
            <a:srgbClr val="F3E8FF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20" y="40690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3A5F"/>
                </a:solidFill>
              </a:defRPr>
            </a:pPr>
            <a:r>
              <a:t>/alerts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443484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6464"/>
                </a:solidFill>
              </a:defRPr>
            </a:pPr>
            <a:r>
              <a:t>Notification center, alert history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" y="5394960"/>
            <a:ext cx="3657600" cy="118872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79" y="54406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3A5F"/>
                </a:solidFill>
              </a:defRPr>
            </a:pPr>
            <a:r>
              <a:t>/reports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79" y="580644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6464"/>
                </a:solidFill>
              </a:defRPr>
            </a:pPr>
            <a:r>
              <a:t>Analytics dashboard, custom reports, data export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06240" y="5394960"/>
            <a:ext cx="3657600" cy="118872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43400" y="54406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3A5F"/>
                </a:solidFill>
              </a:defRPr>
            </a:pPr>
            <a:r>
              <a:t>/stream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580644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6464"/>
                </a:solidFill>
              </a:defRPr>
            </a:pPr>
            <a:r>
              <a:t>Live video feed from bus cameras (MDVR)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38160" y="5394960"/>
            <a:ext cx="3657600" cy="118872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75320" y="54406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3A5F"/>
                </a:solidFill>
              </a:defRPr>
            </a:pPr>
            <a:r>
              <a:t>/profile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580644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6464"/>
                </a:solidFill>
              </a:defRPr>
            </a:pPr>
            <a:r>
              <a:t>User settings, profile management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Security &amp; Non-Functional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3A5F"/>
                </a:solidFill>
              </a:defRPr>
            </a:pPr>
            <a:r>
              <a:t>Security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</a:defRPr>
            </a:pPr>
            <a:r>
              <a:t>Authentication: LocalStorage-based (Dev) / Supabase Auth (Prod)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</a:defRPr>
            </a:pPr>
            <a:r>
              <a:t>Session: Token stored in browser LocalStorage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</a:defRPr>
            </a:pPr>
            <a:r>
              <a:t>Route Protection: Shell component checks auth before rendering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</a:defRPr>
            </a:pPr>
            <a:r>
              <a:t>API Security: Supabase Anon Key for secure API access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</a:defRPr>
            </a:pPr>
            <a:r>
              <a:t>Data Validation: Client-side input validation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</a:defRPr>
            </a:pPr>
            <a:r>
              <a:t>SQL Protection: Parameterized queries via Supabase SDK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</a:defRPr>
            </a:pPr>
            <a:r>
              <a:t>HTTPS: Enforced in production deployment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</a:defRPr>
            </a:pPr>
            <a:r>
              <a:t>GPS Validation: Coordinate boundary check (India region)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3A5F"/>
                </a:solidFill>
              </a:defRPr>
            </a:pPr>
            <a:r>
              <a:t>Non-Functional Requirements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17920" y="1737360"/>
          <a:ext cx="5486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40005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Requirement</a:t>
                      </a:r>
                    </a:p>
                  </a:txBody>
                  <a:tcPr>
                    <a:solidFill>
                      <a:srgbClr val="1E40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Specification</a:t>
                      </a:r>
                    </a:p>
                  </a:txBody>
                  <a:tcPr>
                    <a:solidFill>
                      <a:srgbClr val="1E406E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Performance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GPS update every 10 sec, Page load &lt; 3s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Scalability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100+ buses, 1000+ GPS records/min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Availability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99.9% uptime, 24/7 GPS tracking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Compatibility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Chrome, Firefox, Safari, Edge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Responsive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Desktop, Tablet, Mobile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Reliability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Alarm deduplication, GPS validation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Maintainability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Modular components, TypeScript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74320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EA5E9"/>
                </a:solidFill>
              </a:defRPr>
            </a:pPr>
            <a:r>
              <a:t>BUS BUDDY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47472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A0A0A0"/>
                </a:solidFill>
              </a:defRPr>
            </a:pPr>
            <a:r>
              <a:t>Reporting 2 - System Design &amp; Database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57200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08080"/>
                </a:solidFill>
              </a:defRPr>
            </a:pPr>
            <a:r>
              <a:t>System Architecture   |   Module Design   |   Technology Stack   |   Data Flow</a:t>
            </a:r>
            <a:br/>
            <a:r>
              <a:t>Use Case Diagrams   |   Class Diagram   |   Activity Diagram</a:t>
            </a:r>
            <a:br/>
            <a:r>
              <a:t>Data Dictionary   |   Database Schema   |   ER Diagram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6692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06060"/>
                </a:solidFill>
              </a:defRPr>
            </a:pPr>
            <a:r>
              <a:t>JG University  |  School of Computing  |  SEM-IV MCA (Batch-2024)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126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EA5E9"/>
                </a:solidFill>
              </a:defRPr>
            </a:pPr>
            <a:r>
              <a:t>Next.js 14  |  TypeScript  |  Supabase  |  Python  |  Leaflet  |  Tailwind CSS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